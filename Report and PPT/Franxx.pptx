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heme/theme2.xml" ContentType="application/vnd.openxmlformats-officedocument.them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0"/>
  </p:notesMasterIdLst>
  <p:sldIdLst>
    <p:sldId id="257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307" r:id="rId30"/>
    <p:sldId id="308" r:id="rId31"/>
    <p:sldId id="309" r:id="rId32"/>
    <p:sldId id="310" r:id="rId33"/>
    <p:sldId id="311" r:id="rId34"/>
    <p:sldId id="31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73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2.xml"/><Relationship Id="rId9" Type="http://schemas.openxmlformats.org/officeDocument/2006/relationships/tags" Target="../tags/tag17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9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6.xml"/><Relationship Id="rId4" Type="http://schemas.openxmlformats.org/officeDocument/2006/relationships/tags" Target="../tags/tag65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0.xml"/><Relationship Id="rId9" Type="http://schemas.openxmlformats.org/officeDocument/2006/relationships/tags" Target="../tags/tag7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>
            <p:custDataLst>
              <p:tags r:id="rId1"/>
            </p:custDataLst>
          </p:nvPr>
        </p:nvSpPr>
        <p:spPr>
          <a:xfrm>
            <a:off x="0" y="2377440"/>
            <a:ext cx="5193792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Ellipse 37 (Stroke)_#color-2083&amp;10102"/>
          <p:cNvSpPr/>
          <p:nvPr>
            <p:custDataLst>
              <p:tags r:id="rId2"/>
            </p:custDataLst>
          </p:nvPr>
        </p:nvSpPr>
        <p:spPr>
          <a:xfrm>
            <a:off x="0" y="0"/>
            <a:ext cx="250545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>
            <p:custDataLst>
              <p:tags r:id="rId3"/>
            </p:custDataLst>
          </p:nvPr>
        </p:nvSpPr>
        <p:spPr>
          <a:xfrm>
            <a:off x="9464040" y="4379976"/>
            <a:ext cx="1609344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>
            <p:custDataLst>
              <p:tags r:id="rId4"/>
            </p:custDataLst>
          </p:nvPr>
        </p:nvSpPr>
        <p:spPr>
          <a:xfrm>
            <a:off x="11338560" y="3617849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1870709" y="1862454"/>
            <a:ext cx="9467850" cy="2628901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1870709" y="4790127"/>
            <a:ext cx="7492365" cy="1177603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Ellipse 36-2082&amp;9912"/>
          <p:cNvSpPr/>
          <p:nvPr>
            <p:custDataLst>
              <p:tags r:id="rId4"/>
            </p:custDataLst>
          </p:nvPr>
        </p:nvSpPr>
        <p:spPr>
          <a:xfrm>
            <a:off x="6976872" y="1005840"/>
            <a:ext cx="4343400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Ellipse 37 (Stroke)_#color-2083&amp;10105"/>
          <p:cNvSpPr/>
          <p:nvPr>
            <p:custDataLst>
              <p:tags r:id="rId5"/>
            </p:custDataLst>
          </p:nvPr>
        </p:nvSpPr>
        <p:spPr>
          <a:xfrm>
            <a:off x="7159752" y="0"/>
            <a:ext cx="3977640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7709207" y="2637205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>
            <p:custDataLst>
              <p:tags r:id="rId1"/>
            </p:custDataLst>
          </p:nvPr>
        </p:nvSpPr>
        <p:spPr>
          <a:xfrm>
            <a:off x="0" y="566928"/>
            <a:ext cx="5422392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>
            <p:custDataLst>
              <p:tags r:id="rId2"/>
            </p:custDataLst>
          </p:nvPr>
        </p:nvSpPr>
        <p:spPr>
          <a:xfrm>
            <a:off x="11314176" y="1463040"/>
            <a:ext cx="877824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>
            <p:custDataLst>
              <p:tags r:id="rId3"/>
            </p:custDataLst>
          </p:nvPr>
        </p:nvSpPr>
        <p:spPr>
          <a:xfrm>
            <a:off x="10131552" y="301752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50890" y="1621790"/>
            <a:ext cx="5464175" cy="278955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1130518" y="665438"/>
            <a:ext cx="4402908" cy="4700971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2"/>
            </p:custDataLst>
          </p:nvPr>
        </p:nvSpPr>
        <p:spPr>
          <a:xfrm>
            <a:off x="6948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3132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4800" y="1364400"/>
            <a:ext cx="5157787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94800" y="2061275"/>
            <a:ext cx="5157787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311612" y="1364400"/>
            <a:ext cx="518318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5"/>
            </p:custDataLst>
          </p:nvPr>
        </p:nvSpPr>
        <p:spPr>
          <a:xfrm>
            <a:off x="6311612" y="2061275"/>
            <a:ext cx="518318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838200" y="360000"/>
            <a:ext cx="10515600" cy="58176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4800" y="1296000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>
            <p:custDataLst>
              <p:tags r:id="rId1"/>
            </p:custDataLst>
          </p:nvPr>
        </p:nvSpPr>
        <p:spPr>
          <a:xfrm>
            <a:off x="0" y="2679192"/>
            <a:ext cx="5056632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>
            <p:custDataLst>
              <p:tags r:id="rId2"/>
            </p:custDataLst>
          </p:nvPr>
        </p:nvSpPr>
        <p:spPr>
          <a:xfrm>
            <a:off x="9537192" y="1152144"/>
            <a:ext cx="1298448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>
            <p:custDataLst>
              <p:tags r:id="rId3"/>
            </p:custDataLst>
          </p:nvPr>
        </p:nvSpPr>
        <p:spPr>
          <a:xfrm>
            <a:off x="0" y="0"/>
            <a:ext cx="2368296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>
            <p:custDataLst>
              <p:tags r:id="rId4"/>
            </p:custDataLst>
          </p:nvPr>
        </p:nvSpPr>
        <p:spPr>
          <a:xfrm>
            <a:off x="10899648" y="3429000"/>
            <a:ext cx="530352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1841500" y="555752"/>
            <a:ext cx="10096500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1841500" y="4217290"/>
            <a:ext cx="10096500" cy="1931921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20" Type="http://schemas.openxmlformats.org/officeDocument/2006/relationships/tags" Target="../tags/tag8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>
            <p:custDataLst>
              <p:tags r:id="rId13"/>
            </p:custDataLst>
          </p:nvPr>
        </p:nvSpPr>
        <p:spPr>
          <a:xfrm>
            <a:off x="10497312" y="0"/>
            <a:ext cx="1691640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3" name="Ellipse 36-2083&amp;10117"/>
          <p:cNvSpPr/>
          <p:nvPr>
            <p:custDataLst>
              <p:tags r:id="rId14"/>
            </p:custDataLst>
          </p:nvPr>
        </p:nvSpPr>
        <p:spPr>
          <a:xfrm>
            <a:off x="905256" y="5687568"/>
            <a:ext cx="2715768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4800" y="1364400"/>
            <a:ext cx="10800000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KSO_TEMPLATE" hidden="1"/>
          <p:cNvSpPr/>
          <p:nvPr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4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4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4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4" Type="http://schemas.openxmlformats.org/officeDocument/2006/relationships/image" Target="../media/image10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4" Type="http://schemas.openxmlformats.org/officeDocument/2006/relationships/image" Target="../media/image1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4" Type="http://schemas.openxmlformats.org/officeDocument/2006/relationships/image" Target="../media/image1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4" Type="http://schemas.openxmlformats.org/officeDocument/2006/relationships/image" Target="../media/image1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4" Type="http://schemas.openxmlformats.org/officeDocument/2006/relationships/image" Target="../media/image1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4" Type="http://schemas.openxmlformats.org/officeDocument/2006/relationships/image" Target="../media/image15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4" Type="http://schemas.openxmlformats.org/officeDocument/2006/relationships/image" Target="../media/image16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59.xml"/><Relationship Id="rId1" Type="http://schemas.openxmlformats.org/officeDocument/2006/relationships/tags" Target="../tags/tag15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7.xml"/><Relationship Id="rId1" Type="http://schemas.openxmlformats.org/officeDocument/2006/relationships/tags" Target="../tags/tag16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9.xml"/><Relationship Id="rId1" Type="http://schemas.openxmlformats.org/officeDocument/2006/relationships/tags" Target="../tags/tag16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1.xml"/><Relationship Id="rId1" Type="http://schemas.openxmlformats.org/officeDocument/2006/relationships/tags" Target="../tags/tag17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3.xml"/><Relationship Id="rId1" Type="http://schemas.openxmlformats.org/officeDocument/2006/relationships/tags" Target="../tags/tag17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5.xml"/><Relationship Id="rId1" Type="http://schemas.openxmlformats.org/officeDocument/2006/relationships/tags" Target="../tags/tag17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7.xml"/><Relationship Id="rId1" Type="http://schemas.openxmlformats.org/officeDocument/2006/relationships/tags" Target="../tags/tag1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407285" y="2898140"/>
            <a:ext cx="3625215" cy="1062355"/>
          </a:xfrm>
        </p:spPr>
        <p:txBody>
          <a:bodyPr>
            <a:normAutofit fontScale="90000"/>
          </a:bodyPr>
          <a:lstStyle/>
          <a:p>
            <a:r>
              <a:rPr lang="en-IN" altLang="en-US" b="0">
                <a:latin typeface="Comic Sans MS" panose="030F0702030302020204" charset="0"/>
                <a:cs typeface="Comic Sans MS" panose="030F0702030302020204" charset="0"/>
              </a:rPr>
              <a:t>Franxx</a:t>
            </a:r>
            <a:br>
              <a:rPr lang="en-IN" altLang="en-US" b="0">
                <a:latin typeface="Comic Sans MS" panose="030F0702030302020204" charset="0"/>
                <a:cs typeface="Comic Sans MS" panose="030F0702030302020204" charset="0"/>
              </a:rPr>
            </a:br>
            <a:r>
              <a:rPr lang="en-IN" altLang="en-US" sz="3100" b="0">
                <a:latin typeface="Comic Sans MS" panose="030F0702030302020204" charset="0"/>
                <a:cs typeface="Comic Sans MS" panose="030F0702030302020204" charset="0"/>
              </a:rPr>
              <a:t>Chat Web</a:t>
            </a:r>
          </a:p>
        </p:txBody>
      </p:sp>
      <p:sp>
        <p:nvSpPr>
          <p:cNvPr id="3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7098665" y="2571750"/>
            <a:ext cx="4018280" cy="1714500"/>
          </a:xfrm>
        </p:spPr>
        <p:txBody>
          <a:bodyPr>
            <a:normAutofit fontScale="87500"/>
          </a:bodyPr>
          <a:lstStyle/>
          <a:p>
            <a:r>
              <a:rPr lang="en-IN" altLang="en-US" dirty="0">
                <a:latin typeface="Comic Sans MS" panose="030F0702030302020204" charset="0"/>
                <a:cs typeface="Comic Sans MS" panose="030F0702030302020204" charset="0"/>
              </a:rPr>
              <a:t>Prepared By :-</a:t>
            </a:r>
          </a:p>
          <a:p>
            <a:r>
              <a:rPr lang="en-IN" altLang="en-US" dirty="0">
                <a:latin typeface="Comic Sans MS" panose="030F0702030302020204" charset="0"/>
                <a:cs typeface="Comic Sans MS" panose="030F0702030302020204" charset="0"/>
              </a:rPr>
              <a:t>Savan Detroja - 92500584067</a:t>
            </a:r>
          </a:p>
          <a:p>
            <a:r>
              <a:rPr lang="en-IN" altLang="en-US" dirty="0">
                <a:latin typeface="Comic Sans MS" panose="030F0702030302020204" charset="0"/>
                <a:cs typeface="Comic Sans MS" panose="030F0702030302020204" charset="0"/>
              </a:rPr>
              <a:t>Aryan </a:t>
            </a:r>
            <a:r>
              <a:rPr lang="en-IN" altLang="en-US" dirty="0" err="1">
                <a:latin typeface="Comic Sans MS" panose="030F0702030302020204" charset="0"/>
                <a:cs typeface="Comic Sans MS" panose="030F0702030302020204" charset="0"/>
              </a:rPr>
              <a:t>Kapadiya</a:t>
            </a:r>
            <a:r>
              <a:rPr lang="en-IN" altLang="en-US" dirty="0">
                <a:latin typeface="Comic Sans MS" panose="030F0702030302020204" charset="0"/>
                <a:cs typeface="Comic Sans MS" panose="030F0702030302020204" charset="0"/>
              </a:rPr>
              <a:t> - 92500584093</a:t>
            </a:r>
          </a:p>
          <a:p>
            <a:r>
              <a:rPr lang="en-IN" altLang="en-US" dirty="0">
                <a:latin typeface="Comic Sans MS" panose="030F0702030302020204" charset="0"/>
                <a:cs typeface="Comic Sans MS" panose="030F0702030302020204" charset="0"/>
              </a:rPr>
              <a:t>Jevin </a:t>
            </a:r>
            <a:r>
              <a:rPr lang="en-IN" altLang="en-US" dirty="0" err="1">
                <a:latin typeface="Comic Sans MS" panose="030F0702030302020204" charset="0"/>
                <a:cs typeface="Comic Sans MS" panose="030F0702030302020204" charset="0"/>
              </a:rPr>
              <a:t>PArmar</a:t>
            </a:r>
            <a:r>
              <a:rPr lang="en-IN" altLang="en-US" dirty="0">
                <a:latin typeface="Comic Sans MS" panose="030F0702030302020204" charset="0"/>
                <a:cs typeface="Comic Sans MS" panose="030F0702030302020204" charset="0"/>
              </a:rPr>
              <a:t> - 92500584073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pPr algn="l"/>
            <a:r>
              <a:rPr lang="en-IN" altLang="en-US" sz="3100" b="0">
                <a:latin typeface="Comic Sans MS" panose="030F0702030302020204" charset="0"/>
                <a:cs typeface="Comic Sans MS" panose="030F0702030302020204" charset="0"/>
              </a:rPr>
              <a:t>Intoduction to Ptoject</a:t>
            </a:r>
            <a:br>
              <a:rPr lang="en-IN" altLang="en-US" sz="3100" b="0">
                <a:latin typeface="Comic Sans MS" panose="030F0702030302020204" charset="0"/>
                <a:cs typeface="Comic Sans MS" panose="030F0702030302020204" charset="0"/>
              </a:rPr>
            </a:br>
            <a:endParaRPr lang="en-IN" altLang="en-US" sz="3100" b="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2116455" y="2026920"/>
            <a:ext cx="7492365" cy="4145915"/>
          </a:xfrm>
        </p:spPr>
        <p:txBody>
          <a:bodyPr>
            <a:normAutofit fontScale="82500" lnSpcReduction="20000"/>
          </a:bodyPr>
          <a:lstStyle/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FRANXX is a web-based real-time chat application developed using the MERN stack.</a:t>
            </a: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Provides secure communication between registered users.</a:t>
            </a: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Supports private and group conversations.</a:t>
            </a: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Users can search and connect with other users.</a:t>
            </a: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Supports text messages, emojis, images and file sharing.</a:t>
            </a: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Provides temporary status updates.</a:t>
            </a: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Includes notifications, profiles and settings.</a:t>
            </a: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Provides an administrator module for managing users and activities.</a:t>
            </a: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Socket.IO enables real-time message delivery without refreshing the page.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pPr algn="l"/>
            <a:r>
              <a:rPr lang="en-IN" sz="3100" b="0" dirty="0">
                <a:latin typeface="Comic Sans MS" panose="030F0702030302020204" charset="0"/>
                <a:cs typeface="Comic Sans MS" panose="030F0702030302020204" charset="0"/>
                <a:sym typeface="+mn-ea"/>
              </a:rPr>
              <a:t>Preamble</a:t>
            </a:r>
            <a:endParaRPr lang="en-IN" altLang="en-US" sz="3100" b="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2116455" y="2026920"/>
            <a:ext cx="7492365" cy="4145915"/>
          </a:xfrm>
        </p:spPr>
        <p:txBody>
          <a:bodyPr>
            <a:normAutofit fontScale="87500" lnSpcReduction="20000"/>
          </a:bodyPr>
          <a:lstStyle/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Communication is an essential part of modern digital life.</a:t>
            </a: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Existing applications provide fast and secure communication.</a:t>
            </a: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FRANXX is developed as a modern real-time messaging platform.</a:t>
            </a: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It is inspired by applications such as WhatsApp, Discord, Telegram and Messenger.</a:t>
            </a: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The main aim is to provide a simple, secure and user-friendly communication platform.</a:t>
            </a: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Users can communicate through private and group chats.</a:t>
            </a: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MongoDB stores user, chat, message and group information.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pPr algn="l"/>
            <a:r>
              <a:rPr lang="en-IN" sz="3100" b="0" dirty="0">
                <a:latin typeface="Comic Sans MS" panose="030F0702030302020204" charset="0"/>
                <a:cs typeface="Comic Sans MS" panose="030F0702030302020204" charset="0"/>
                <a:sym typeface="+mn-ea"/>
              </a:rPr>
              <a:t>Module </a:t>
            </a:r>
            <a:endParaRPr lang="en-IN" altLang="en-US" sz="3100" b="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2444115" y="2026920"/>
            <a:ext cx="3132455" cy="4524375"/>
          </a:xfrm>
        </p:spPr>
        <p:txBody>
          <a:bodyPr/>
          <a:lstStyle/>
          <a:p>
            <a:pPr marL="342900" indent="-342900">
              <a:buFont typeface="Wingdings" panose="05000000000000000000" charset="0"/>
              <a:buAutoNum type="arabicPeriod"/>
            </a:pPr>
            <a:r>
              <a:rPr lang="en-US" altLang="en-US" sz="1600">
                <a:latin typeface="Comic Sans MS" panose="030F0702030302020204" charset="0"/>
                <a:cs typeface="Comic Sans MS" panose="030F0702030302020204" charset="0"/>
              </a:rPr>
              <a:t>User Authentication</a:t>
            </a:r>
          </a:p>
          <a:p>
            <a:pPr marL="342900" indent="-342900">
              <a:buFont typeface="Wingdings" panose="05000000000000000000" charset="0"/>
              <a:buAutoNum type="arabicPeriod"/>
            </a:pPr>
            <a:r>
              <a:rPr lang="en-US" altLang="en-US" sz="1600">
                <a:latin typeface="Comic Sans MS" panose="030F0702030302020204" charset="0"/>
                <a:cs typeface="Comic Sans MS" panose="030F0702030302020204" charset="0"/>
              </a:rPr>
              <a:t>Dashboard</a:t>
            </a:r>
          </a:p>
          <a:p>
            <a:pPr marL="342900" indent="-342900">
              <a:buFont typeface="Wingdings" panose="05000000000000000000" charset="0"/>
              <a:buAutoNum type="arabicPeriod"/>
            </a:pPr>
            <a:r>
              <a:rPr lang="en-US" altLang="en-US" sz="1600">
                <a:latin typeface="Comic Sans MS" panose="030F0702030302020204" charset="0"/>
                <a:cs typeface="Comic Sans MS" panose="030F0702030302020204" charset="0"/>
              </a:rPr>
              <a:t>Private Chat</a:t>
            </a:r>
          </a:p>
          <a:p>
            <a:pPr marL="342900" indent="-342900">
              <a:buFont typeface="Wingdings" panose="05000000000000000000" charset="0"/>
              <a:buAutoNum type="arabicPeriod"/>
            </a:pPr>
            <a:r>
              <a:rPr lang="en-US" altLang="en-US" sz="1600">
                <a:latin typeface="Comic Sans MS" panose="030F0702030302020204" charset="0"/>
                <a:cs typeface="Comic Sans MS" panose="030F0702030302020204" charset="0"/>
              </a:rPr>
              <a:t>Group Chat</a:t>
            </a:r>
          </a:p>
          <a:p>
            <a:pPr marL="342900" indent="-342900">
              <a:buFont typeface="Wingdings" panose="05000000000000000000" charset="0"/>
              <a:buAutoNum type="arabicPeriod"/>
            </a:pPr>
            <a:r>
              <a:rPr lang="en-US" altLang="en-US" sz="1600">
                <a:latin typeface="Comic Sans MS" panose="030F0702030302020204" charset="0"/>
                <a:cs typeface="Comic Sans MS" panose="030F0702030302020204" charset="0"/>
              </a:rPr>
              <a:t>User Profile</a:t>
            </a:r>
          </a:p>
          <a:p>
            <a:pPr marL="342900" indent="-342900">
              <a:buFont typeface="Wingdings" panose="05000000000000000000" charset="0"/>
              <a:buAutoNum type="arabicPeriod"/>
            </a:pPr>
            <a:r>
              <a:rPr lang="en-US" altLang="en-US" sz="1600">
                <a:latin typeface="Comic Sans MS" panose="030F0702030302020204" charset="0"/>
                <a:cs typeface="Comic Sans MS" panose="030F0702030302020204" charset="0"/>
              </a:rPr>
              <a:t>User Search &amp; Connection</a:t>
            </a:r>
          </a:p>
          <a:p>
            <a:pPr marL="342900" indent="-342900">
              <a:buFont typeface="Wingdings" panose="05000000000000000000" charset="0"/>
              <a:buAutoNum type="arabicPeriod"/>
            </a:pPr>
            <a:r>
              <a:rPr lang="en-US" altLang="en-US" sz="1600">
                <a:latin typeface="Comic Sans MS" panose="030F0702030302020204" charset="0"/>
                <a:cs typeface="Comic Sans MS" panose="030F0702030302020204" charset="0"/>
              </a:rPr>
              <a:t>Followers &amp; Following</a:t>
            </a:r>
          </a:p>
          <a:p>
            <a:pPr marL="342900" indent="-342900">
              <a:buFont typeface="Wingdings" panose="05000000000000000000" charset="0"/>
              <a:buAutoNum type="arabicPeriod"/>
            </a:pPr>
            <a:r>
              <a:rPr lang="en-US" altLang="en-US" sz="1600">
                <a:latin typeface="Comic Sans MS" panose="030F0702030302020204" charset="0"/>
                <a:cs typeface="Comic Sans MS" panose="030F0702030302020204" charset="0"/>
              </a:rPr>
              <a:t>Status</a:t>
            </a:r>
          </a:p>
          <a:p>
            <a:pPr marL="342900" indent="-342900">
              <a:buFont typeface="Wingdings" panose="05000000000000000000" charset="0"/>
              <a:buAutoNum type="arabicPeriod"/>
            </a:pPr>
            <a:r>
              <a:rPr lang="en-US" altLang="en-US" sz="1600">
                <a:latin typeface="Comic Sans MS" panose="030F0702030302020204" charset="0"/>
                <a:cs typeface="Comic Sans MS" panose="030F0702030302020204" charset="0"/>
              </a:rPr>
              <a:t>Media &amp; File Sharing</a:t>
            </a:r>
          </a:p>
          <a:p>
            <a:pPr marL="342900" indent="-342900">
              <a:buFont typeface="Wingdings" panose="05000000000000000000" charset="0"/>
              <a:buAutoNum type="arabicPeriod"/>
            </a:pPr>
            <a:r>
              <a:rPr lang="en-US" altLang="en-US" sz="1600">
                <a:latin typeface="Comic Sans MS" panose="030F0702030302020204" charset="0"/>
                <a:cs typeface="Comic Sans MS" panose="030F0702030302020204" charset="0"/>
              </a:rPr>
              <a:t>Notification</a:t>
            </a:r>
          </a:p>
          <a:p>
            <a:pPr marL="342900" indent="-342900">
              <a:buFont typeface="Wingdings" panose="05000000000000000000" charset="0"/>
              <a:buAutoNum type="arabicPeriod"/>
            </a:pPr>
            <a:r>
              <a:rPr lang="en-US" altLang="en-US" sz="1600">
                <a:latin typeface="Comic Sans MS" panose="030F0702030302020204" charset="0"/>
                <a:cs typeface="Comic Sans MS" panose="030F0702030302020204" charset="0"/>
              </a:rPr>
              <a:t>Settings</a:t>
            </a:r>
          </a:p>
          <a:p>
            <a:pPr marL="342900" indent="-342900">
              <a:buFont typeface="Wingdings" panose="05000000000000000000" charset="0"/>
              <a:buAutoNum type="arabicPeriod"/>
            </a:pPr>
            <a:r>
              <a:rPr lang="en-US" altLang="en-US" sz="1600">
                <a:latin typeface="Comic Sans MS" panose="030F0702030302020204" charset="0"/>
                <a:cs typeface="Comic Sans MS" panose="030F0702030302020204" charset="0"/>
              </a:rPr>
              <a:t>Admin Module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pPr algn="l"/>
            <a:r>
              <a:rPr lang="en-IN" sz="3100" b="0" dirty="0">
                <a:latin typeface="Comic Sans MS" panose="030F0702030302020204" charset="0"/>
                <a:cs typeface="Comic Sans MS" panose="030F0702030302020204" charset="0"/>
                <a:sym typeface="+mn-ea"/>
              </a:rPr>
              <a:t>Review of literature</a:t>
            </a:r>
            <a:endParaRPr lang="en-IN" altLang="en-US" sz="3100" b="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2444115" y="2026920"/>
            <a:ext cx="5741670" cy="452437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charset="0"/>
              <a:buChar char="v"/>
            </a:pPr>
            <a:r>
              <a:rPr lang="en-US" altLang="en-US" sz="1600">
                <a:latin typeface="Comic Sans MS" panose="030F0702030302020204" charset="0"/>
                <a:cs typeface="Comic Sans MS" panose="030F0702030302020204" charset="0"/>
              </a:rPr>
              <a:t>Purpose of Study</a:t>
            </a:r>
          </a:p>
          <a:p>
            <a:pPr marL="342900" indent="-342900">
              <a:buFont typeface="Wingdings" panose="05000000000000000000" charset="0"/>
              <a:buChar char="v"/>
            </a:pPr>
            <a:r>
              <a:rPr lang="en-US" altLang="en-US" sz="1600">
                <a:latin typeface="Comic Sans MS" panose="030F0702030302020204" charset="0"/>
                <a:cs typeface="Comic Sans MS" panose="030F0702030302020204" charset="0"/>
              </a:rPr>
              <a:t>Analyze existing communication platforms.</a:t>
            </a:r>
          </a:p>
          <a:p>
            <a:pPr marL="342900" indent="-342900">
              <a:buFont typeface="Wingdings" panose="05000000000000000000" charset="0"/>
              <a:buChar char="v"/>
            </a:pPr>
            <a:r>
              <a:rPr lang="en-US" altLang="en-US" sz="1600">
                <a:latin typeface="Comic Sans MS" panose="030F0702030302020204" charset="0"/>
                <a:cs typeface="Comic Sans MS" panose="030F0702030302020204" charset="0"/>
              </a:rPr>
              <a:t>Study their major features.</a:t>
            </a:r>
          </a:p>
          <a:p>
            <a:pPr marL="342900" indent="-342900">
              <a:buFont typeface="Wingdings" panose="05000000000000000000" charset="0"/>
              <a:buChar char="v"/>
            </a:pPr>
            <a:r>
              <a:rPr lang="en-US" altLang="en-US" sz="1600">
                <a:latin typeface="Comic Sans MS" panose="030F0702030302020204" charset="0"/>
                <a:cs typeface="Comic Sans MS" panose="030F0702030302020204" charset="0"/>
              </a:rPr>
              <a:t>Identify strengths and limitations.</a:t>
            </a:r>
          </a:p>
          <a:p>
            <a:pPr marL="342900" indent="-342900">
              <a:buFont typeface="Wingdings" panose="05000000000000000000" charset="0"/>
              <a:buChar char="v"/>
            </a:pPr>
            <a:r>
              <a:rPr lang="en-US" altLang="en-US" sz="1600">
                <a:latin typeface="Comic Sans MS" panose="030F0702030302020204" charset="0"/>
                <a:cs typeface="Comic Sans MS" panose="030F0702030302020204" charset="0"/>
              </a:rPr>
              <a:t>Use the findings as a reference for developing FRANXX.</a:t>
            </a:r>
          </a:p>
          <a:p>
            <a:pPr marL="342900" indent="-342900">
              <a:buFont typeface="Wingdings" panose="05000000000000000000" charset="0"/>
              <a:buChar char="v"/>
            </a:pPr>
            <a:endParaRPr lang="en-US" altLang="en-US" sz="1600">
              <a:latin typeface="Comic Sans MS" panose="030F0702030302020204" charset="0"/>
              <a:cs typeface="Comic Sans MS" panose="030F0702030302020204" charset="0"/>
            </a:endParaRPr>
          </a:p>
          <a:p>
            <a:pPr marL="342900" indent="-342900">
              <a:buFont typeface="Wingdings" panose="05000000000000000000" charset="0"/>
              <a:buChar char="v"/>
            </a:pPr>
            <a:r>
              <a:rPr lang="en-US" altLang="en-US" sz="1600">
                <a:latin typeface="Comic Sans MS" panose="030F0702030302020204" charset="0"/>
                <a:cs typeface="Comic Sans MS" panose="030F0702030302020204" charset="0"/>
                <a:sym typeface="+mn-ea"/>
              </a:rPr>
              <a:t>Existing Systems Studied</a:t>
            </a:r>
            <a:endParaRPr lang="en-US" altLang="en-US" sz="1600">
              <a:latin typeface="Comic Sans MS" panose="030F0702030302020204" charset="0"/>
              <a:cs typeface="Comic Sans MS" panose="030F0702030302020204" charset="0"/>
            </a:endParaRPr>
          </a:p>
          <a:p>
            <a:pPr marL="342900" indent="-342900">
              <a:buFont typeface="Wingdings" panose="05000000000000000000" charset="0"/>
              <a:buChar char="v"/>
            </a:pPr>
            <a:r>
              <a:rPr lang="en-US" altLang="en-US" sz="1600">
                <a:latin typeface="Comic Sans MS" panose="030F0702030302020204" charset="0"/>
                <a:cs typeface="Comic Sans MS" panose="030F0702030302020204" charset="0"/>
                <a:sym typeface="+mn-ea"/>
              </a:rPr>
              <a:t>WhatsApp</a:t>
            </a:r>
            <a:endParaRPr lang="en-US" altLang="en-US" sz="1600">
              <a:latin typeface="Comic Sans MS" panose="030F0702030302020204" charset="0"/>
              <a:cs typeface="Comic Sans MS" panose="030F0702030302020204" charset="0"/>
            </a:endParaRPr>
          </a:p>
          <a:p>
            <a:pPr marL="342900" indent="-342900">
              <a:buFont typeface="Wingdings" panose="05000000000000000000" charset="0"/>
              <a:buChar char="v"/>
            </a:pPr>
            <a:r>
              <a:rPr lang="en-US" altLang="en-US" sz="1600">
                <a:latin typeface="Comic Sans MS" panose="030F0702030302020204" charset="0"/>
                <a:cs typeface="Comic Sans MS" panose="030F0702030302020204" charset="0"/>
                <a:sym typeface="+mn-ea"/>
              </a:rPr>
              <a:t>Telegram</a:t>
            </a:r>
            <a:endParaRPr lang="en-US" altLang="en-US" sz="1600">
              <a:latin typeface="Comic Sans MS" panose="030F0702030302020204" charset="0"/>
              <a:cs typeface="Comic Sans MS" panose="030F0702030302020204" charset="0"/>
            </a:endParaRPr>
          </a:p>
          <a:p>
            <a:pPr marL="342900" indent="-342900">
              <a:buFont typeface="Wingdings" panose="05000000000000000000" charset="0"/>
              <a:buChar char="v"/>
            </a:pPr>
            <a:r>
              <a:rPr lang="en-US" altLang="en-US" sz="1600">
                <a:latin typeface="Comic Sans MS" panose="030F0702030302020204" charset="0"/>
                <a:cs typeface="Comic Sans MS" panose="030F0702030302020204" charset="0"/>
                <a:sym typeface="+mn-ea"/>
              </a:rPr>
              <a:t>Discord</a:t>
            </a:r>
            <a:endParaRPr lang="en-US" altLang="en-US" sz="1600">
              <a:latin typeface="Comic Sans MS" panose="030F0702030302020204" charset="0"/>
              <a:cs typeface="Comic Sans MS" panose="030F0702030302020204" charset="0"/>
            </a:endParaRPr>
          </a:p>
          <a:p>
            <a:pPr marL="342900" indent="-342900">
              <a:buFont typeface="Wingdings" panose="05000000000000000000" charset="0"/>
              <a:buChar char="v"/>
            </a:pPr>
            <a:r>
              <a:rPr lang="en-US" altLang="en-US" sz="1600">
                <a:latin typeface="Comic Sans MS" panose="030F0702030302020204" charset="0"/>
                <a:cs typeface="Comic Sans MS" panose="030F0702030302020204" charset="0"/>
                <a:sym typeface="+mn-ea"/>
              </a:rPr>
              <a:t>Instagram</a:t>
            </a:r>
            <a:endParaRPr lang="en-US" altLang="en-US" sz="1600">
              <a:latin typeface="Comic Sans MS" panose="030F0702030302020204" charset="0"/>
              <a:cs typeface="Comic Sans MS" panose="030F0702030302020204" charset="0"/>
            </a:endParaRPr>
          </a:p>
          <a:p>
            <a:pPr marL="342900" indent="-342900">
              <a:buFont typeface="Wingdings" panose="05000000000000000000" charset="0"/>
              <a:buChar char="v"/>
            </a:pPr>
            <a:endParaRPr lang="en-US" altLang="en-US" sz="1600"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pPr algn="l"/>
            <a:r>
              <a:rPr lang="en-US" sz="3100" b="0" dirty="0">
                <a:latin typeface="Comic Sans MS" panose="030F0702030302020204" charset="0"/>
                <a:cs typeface="Comic Sans MS" panose="030F0702030302020204" charset="0"/>
                <a:sym typeface="+mn-ea"/>
              </a:rPr>
              <a:t>TECHNICAL DESCRIPTION</a:t>
            </a:r>
            <a:endParaRPr lang="en-IN" altLang="en-US" sz="3100" b="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3912235" y="1604010"/>
            <a:ext cx="4534535" cy="296545"/>
          </a:xfrm>
        </p:spPr>
        <p:txBody>
          <a:bodyPr>
            <a:normAutofit/>
          </a:bodyPr>
          <a:lstStyle/>
          <a:p>
            <a:pPr algn="ctr"/>
            <a:r>
              <a:rPr lang="en-US" sz="1600" dirty="0">
                <a:latin typeface="Comic Sans MS" panose="030F0702030302020204" charset="0"/>
                <a:cs typeface="Comic Sans MS" panose="030F0702030302020204" charset="0"/>
                <a:sym typeface="+mn-ea"/>
              </a:rPr>
              <a:t>Hardware Requirement </a:t>
            </a:r>
            <a:endParaRPr lang="en-US" altLang="en-US" sz="1600" dirty="0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endParaRPr lang="en-US" altLang="en-US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986405" y="347789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>
                <a:latin typeface="Comic Sans MS" panose="030F0702030302020204" charset="0"/>
                <a:cs typeface="Comic Sans MS" panose="030F0702030302020204" charset="0"/>
                <a:sym typeface="+mn-ea"/>
              </a:rPr>
              <a:t>Software Requirement</a:t>
            </a:r>
            <a:endParaRPr 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519263" y="2100324"/>
          <a:ext cx="11029950" cy="12236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51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</a:rPr>
                        <a:t>Component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effectLst/>
                        </a:rPr>
                        <a:t>Minimum Requirement</a:t>
                      </a:r>
                      <a:endParaRPr lang="en-IN" sz="1200"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</a:rPr>
                        <a:t>Processor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effectLst/>
                        </a:rPr>
                        <a:t>Intel Core i3 or AMD equivalent</a:t>
                      </a:r>
                      <a:endParaRPr lang="en-IN" sz="1200"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</a:rPr>
                        <a:t>RAM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effectLst/>
                        </a:rPr>
                        <a:t>4 GB (8 GB Recommended)</a:t>
                      </a:r>
                      <a:endParaRPr lang="en-IN" sz="1200"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</a:rPr>
                        <a:t>Hard Disk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effectLst/>
                        </a:rPr>
                        <a:t>20 GB Free Space</a:t>
                      </a:r>
                      <a:endParaRPr lang="en-IN" sz="1200"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</a:rPr>
                        <a:t>Internet Connection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 dirty="0">
                          <a:effectLst/>
                        </a:rPr>
                        <a:t>Broadband/Wi-Fi</a:t>
                      </a:r>
                      <a:endParaRPr lang="en-IN" sz="1200" dirty="0"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/>
          <p:nvPr/>
        </p:nvSpPr>
        <p:spPr>
          <a:xfrm>
            <a:off x="882650" y="445452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>
                <a:latin typeface="Comic Sans MS" panose="030F0702030302020204" charset="0"/>
                <a:cs typeface="Comic Sans MS" panose="030F0702030302020204" charset="0"/>
                <a:sym typeface="+mn-ea"/>
              </a:rPr>
              <a:t>Software Requirement</a:t>
            </a:r>
            <a:endParaRPr 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491613" y="3999145"/>
          <a:ext cx="11029950" cy="2346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51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</a:rPr>
                        <a:t>Software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effectLst/>
                        </a:rPr>
                        <a:t>Requirement</a:t>
                      </a:r>
                      <a:endParaRPr lang="en-IN" sz="1200"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</a:rPr>
                        <a:t>Operating System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effectLst/>
                        </a:rPr>
                        <a:t>Windows 10/11, Linux, or macOS</a:t>
                      </a:r>
                      <a:endParaRPr lang="en-IN" sz="1200"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</a:rPr>
                        <a:t>Frontend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effectLst/>
                        </a:rPr>
                        <a:t>React.js, HTML5, CSS3, JavaScript, Bootstrap/Tailwind CSS</a:t>
                      </a:r>
                      <a:endParaRPr lang="en-IN" sz="1200"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</a:rPr>
                        <a:t>Backend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effectLst/>
                        </a:rPr>
                        <a:t>Node.js, Express.js</a:t>
                      </a:r>
                      <a:endParaRPr lang="en-IN" sz="1200"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</a:rPr>
                        <a:t>Database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effectLst/>
                        </a:rPr>
                        <a:t>MongoDB</a:t>
                      </a:r>
                      <a:endParaRPr lang="en-IN" sz="1200"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</a:rPr>
                        <a:t>Runtime Environment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effectLst/>
                        </a:rPr>
                        <a:t>Node.js (v18 or above)</a:t>
                      </a:r>
                      <a:endParaRPr lang="en-IN" sz="1200"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</a:rPr>
                        <a:t>IDE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effectLst/>
                        </a:rPr>
                        <a:t>Visual Studio Code</a:t>
                      </a:r>
                      <a:endParaRPr lang="en-IN" sz="1200"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</a:rPr>
                        <a:t>API Testing Tool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effectLst/>
                        </a:rPr>
                        <a:t>Postman</a:t>
                      </a:r>
                      <a:endParaRPr lang="en-IN" sz="1200"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</a:rPr>
                        <a:t>Version Control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effectLst/>
                        </a:rPr>
                        <a:t>Git and GitHub</a:t>
                      </a:r>
                      <a:endParaRPr lang="en-IN" sz="1200"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</a:rPr>
                        <a:t>Web Browser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effectLst/>
                        </a:rPr>
                        <a:t>Google Chrome, Microsoft Edge, Mozilla Firefox</a:t>
                      </a:r>
                      <a:endParaRPr lang="en-IN" sz="1200"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</a:rPr>
                        <a:t>Package Manager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85725" marR="85725" indent="457200" algn="l">
                        <a:buNone/>
                      </a:pPr>
                      <a:r>
                        <a:rPr lang="en-IN" sz="1400" dirty="0" err="1">
                          <a:effectLst/>
                        </a:rPr>
                        <a:t>npm</a:t>
                      </a:r>
                      <a:r>
                        <a:rPr lang="en-IN" sz="1400" dirty="0">
                          <a:effectLst/>
                        </a:rPr>
                        <a:t> (Node Package Manager)</a:t>
                      </a:r>
                      <a:endParaRPr lang="en-IN" sz="1200" dirty="0">
                        <a:effectLst/>
                        <a:latin typeface="Nimbus Roman No9 L"/>
                        <a:ea typeface="Bitstream Vera San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AED38-972B-1E0F-1C2B-17CE59A0C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0761407A-82EA-7219-EA80-6718D91F247E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System Design and Development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7F943-D2E6-0886-AE22-FCA239BB42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21110" y="6555712"/>
            <a:ext cx="1192024" cy="302288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Comic Sans MS" panose="030F0702030302020204" pitchFamily="66" charset="0"/>
              </a:rPr>
              <a:t>Flow Chart</a:t>
            </a:r>
            <a:endParaRPr lang="en-IN" sz="1600" dirty="0"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F941F2-FDCE-2747-E577-93990C873C4E}"/>
              </a:ext>
            </a:extLst>
          </p:cNvPr>
          <p:cNvPicPr/>
          <p:nvPr/>
        </p:nvPicPr>
        <p:blipFill>
          <a:blip r:embed="rId4"/>
          <a:srcRect l="-3" t="-3" r="-3" b="-3"/>
          <a:stretch>
            <a:fillRect/>
          </a:stretch>
        </p:blipFill>
        <p:spPr>
          <a:xfrm>
            <a:off x="3191070" y="1464906"/>
            <a:ext cx="5252104" cy="4956654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26836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42E43-87F8-C9CA-7B80-5CBD9257A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04ECE811-AE98-8CE7-BF4D-5E09DA9F617A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System Design and Development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8A6C41-41F2-D127-8CB0-4A88951A784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06876" y="6313542"/>
            <a:ext cx="4840295" cy="227643"/>
          </a:xfrm>
        </p:spPr>
        <p:txBody>
          <a:bodyPr>
            <a:noAutofit/>
          </a:bodyPr>
          <a:lstStyle/>
          <a:p>
            <a:r>
              <a:rPr lang="en-US" sz="1600" dirty="0"/>
              <a:t>Level 0 DFD: Context Level Data Flow Diagram</a:t>
            </a:r>
            <a:endParaRPr lang="en-IN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21C640-E3B6-7BCD-99AC-E5E6347003E6}"/>
              </a:ext>
            </a:extLst>
          </p:cNvPr>
          <p:cNvPicPr/>
          <p:nvPr/>
        </p:nvPicPr>
        <p:blipFill>
          <a:blip r:embed="rId4"/>
          <a:srcRect l="-7" t="-13" r="-7" b="-13"/>
          <a:stretch>
            <a:fillRect/>
          </a:stretch>
        </p:blipFill>
        <p:spPr>
          <a:xfrm>
            <a:off x="3299556" y="2613568"/>
            <a:ext cx="5047615" cy="2675890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01812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E144C-AFD1-12BB-1435-8DD4A77C6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B7A61929-CA69-74CC-E9A9-47EF06CA7F9B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System Design and Development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6704EC-B4C3-EC44-D1AE-E9516F213B9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06876" y="6313542"/>
            <a:ext cx="4840295" cy="227643"/>
          </a:xfrm>
        </p:spPr>
        <p:txBody>
          <a:bodyPr>
            <a:noAutofit/>
          </a:bodyPr>
          <a:lstStyle/>
          <a:p>
            <a:pPr algn="ctr"/>
            <a:r>
              <a:rPr lang="en-US" sz="1600" dirty="0"/>
              <a:t>Level 1 DFD: </a:t>
            </a:r>
            <a:r>
              <a:rPr lang="en-US" sz="1600" dirty="0" err="1"/>
              <a:t>Franxx</a:t>
            </a:r>
            <a:r>
              <a:rPr lang="en-US" sz="1600" dirty="0"/>
              <a:t> System</a:t>
            </a: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80ECF2-B735-067B-ABC6-594DF91A9921}"/>
              </a:ext>
            </a:extLst>
          </p:cNvPr>
          <p:cNvPicPr/>
          <p:nvPr/>
        </p:nvPicPr>
        <p:blipFill>
          <a:blip r:embed="rId4"/>
          <a:srcRect l="-3" t="-4" r="-3" b="-4"/>
          <a:stretch>
            <a:fillRect/>
          </a:stretch>
        </p:blipFill>
        <p:spPr>
          <a:xfrm>
            <a:off x="3063173" y="1415283"/>
            <a:ext cx="5727700" cy="4772025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14922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1CEC9-D5F6-E2D5-526A-E41059FFC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8C0BA506-7E86-B11C-1072-2A1B440524A5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System Design and Development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2B241-6E03-91ED-43FE-C236839C089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06876" y="6313542"/>
            <a:ext cx="4840295" cy="227643"/>
          </a:xfrm>
        </p:spPr>
        <p:txBody>
          <a:bodyPr>
            <a:noAutofit/>
          </a:bodyPr>
          <a:lstStyle/>
          <a:p>
            <a:pPr algn="ctr"/>
            <a:r>
              <a:rPr lang="en-IN" sz="1600" dirty="0"/>
              <a:t>Level - </a:t>
            </a:r>
            <a:r>
              <a:rPr lang="en-US" sz="1600" dirty="0"/>
              <a:t>2 DFD Messaging</a:t>
            </a:r>
            <a:endParaRPr lang="en-IN" sz="1600" dirty="0"/>
          </a:p>
        </p:txBody>
      </p:sp>
      <p:pic>
        <p:nvPicPr>
          <p:cNvPr id="3" name="Image1">
            <a:extLst>
              <a:ext uri="{FF2B5EF4-FFF2-40B4-BE49-F238E27FC236}">
                <a16:creationId xmlns:a16="http://schemas.microsoft.com/office/drawing/2014/main" id="{FF301A76-3B43-6FC5-E9D3-DBDDE845E392}"/>
              </a:ext>
            </a:extLst>
          </p:cNvPr>
          <p:cNvPicPr/>
          <p:nvPr/>
        </p:nvPicPr>
        <p:blipFill>
          <a:blip r:embed="rId4"/>
          <a:srcRect l="-3" t="-9" r="-3" b="-9"/>
          <a:stretch>
            <a:fillRect/>
          </a:stretch>
        </p:blipFill>
        <p:spPr>
          <a:xfrm>
            <a:off x="2981175" y="2440622"/>
            <a:ext cx="5725795" cy="1976755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80779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D3CE8-E04C-6AE8-8F52-6F215ECE7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EC34F956-C952-3829-2CB2-60167F401D88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System Design and Development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F045A0-6E6A-9F84-D574-C80759538C8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06876" y="6313542"/>
            <a:ext cx="4840295" cy="227643"/>
          </a:xfrm>
        </p:spPr>
        <p:txBody>
          <a:bodyPr>
            <a:noAutofit/>
          </a:bodyPr>
          <a:lstStyle/>
          <a:p>
            <a:pPr algn="ctr"/>
            <a:r>
              <a:rPr lang="en-IN" sz="1600" dirty="0"/>
              <a:t>Level - </a:t>
            </a:r>
            <a:r>
              <a:rPr lang="en-US" sz="1600" dirty="0"/>
              <a:t>2 DFD Group Management</a:t>
            </a: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A9802A-F1D9-9515-5772-266DF6A3D486}"/>
              </a:ext>
            </a:extLst>
          </p:cNvPr>
          <p:cNvPicPr/>
          <p:nvPr/>
        </p:nvPicPr>
        <p:blipFill>
          <a:blip r:embed="rId4"/>
          <a:srcRect l="-4" t="-12" r="-4" b="-12"/>
          <a:stretch>
            <a:fillRect/>
          </a:stretch>
        </p:blipFill>
        <p:spPr>
          <a:xfrm>
            <a:off x="3235007" y="2240597"/>
            <a:ext cx="5721985" cy="2376805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55371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017EB-E530-30BD-F52C-FF854F5FC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F1998FE9-A657-FBE6-08E1-D50826C12A30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System Design and Development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643108-926F-BD7A-1E07-C1C512BC1B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06876" y="6313542"/>
            <a:ext cx="4840295" cy="227643"/>
          </a:xfrm>
        </p:spPr>
        <p:txBody>
          <a:bodyPr>
            <a:noAutofit/>
          </a:bodyPr>
          <a:lstStyle/>
          <a:p>
            <a:pPr algn="ctr"/>
            <a:r>
              <a:rPr lang="en-IN" sz="1600" dirty="0"/>
              <a:t> Class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215B0E-FB6B-167E-BE9A-771F96FF221A}"/>
              </a:ext>
            </a:extLst>
          </p:cNvPr>
          <p:cNvPicPr/>
          <p:nvPr/>
        </p:nvPicPr>
        <p:blipFill>
          <a:blip r:embed="rId4"/>
          <a:srcRect l="-6" t="-5" r="-6" b="-5"/>
          <a:stretch>
            <a:fillRect/>
          </a:stretch>
        </p:blipFill>
        <p:spPr>
          <a:xfrm>
            <a:off x="2995127" y="1399592"/>
            <a:ext cx="5952930" cy="4913950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741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C67C1-5F6C-1C97-230D-865E69799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87E7DE47-305D-D8AB-1C65-4954305188A6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System Design and Development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7B8DD-D407-D4B4-52B7-A9DDFABFF9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06876" y="6313542"/>
            <a:ext cx="4840295" cy="227643"/>
          </a:xfrm>
        </p:spPr>
        <p:txBody>
          <a:bodyPr>
            <a:noAutofit/>
          </a:bodyPr>
          <a:lstStyle/>
          <a:p>
            <a:pPr algn="ctr"/>
            <a:r>
              <a:rPr lang="en-IN" sz="1600" dirty="0"/>
              <a:t>Use Case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1E25BF-B48C-AAFD-67CE-9D058BF212E6}"/>
              </a:ext>
            </a:extLst>
          </p:cNvPr>
          <p:cNvPicPr/>
          <p:nvPr/>
        </p:nvPicPr>
        <p:blipFill>
          <a:blip r:embed="rId4"/>
          <a:srcRect l="-8" t="-11" r="-8" b="-11"/>
          <a:stretch>
            <a:fillRect/>
          </a:stretch>
        </p:blipFill>
        <p:spPr>
          <a:xfrm>
            <a:off x="3748087" y="2123199"/>
            <a:ext cx="4695825" cy="3152775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46860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5F293-C90A-2C92-CE4B-A2A5F7443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91DC1CF5-D4C9-601F-2DA1-BE74A11EF3EC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System Design and Development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EB678E-2BF2-1601-46C7-DDD1EAC7EE4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06876" y="6313542"/>
            <a:ext cx="4840295" cy="227643"/>
          </a:xfrm>
        </p:spPr>
        <p:txBody>
          <a:bodyPr>
            <a:noAutofit/>
          </a:bodyPr>
          <a:lstStyle/>
          <a:p>
            <a:pPr algn="ctr"/>
            <a:r>
              <a:rPr lang="en-IN" sz="1600" dirty="0"/>
              <a:t>Sequential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46BE7B-064D-14F4-A309-93042066D00D}"/>
              </a:ext>
            </a:extLst>
          </p:cNvPr>
          <p:cNvPicPr/>
          <p:nvPr/>
        </p:nvPicPr>
        <p:blipFill>
          <a:blip r:embed="rId4"/>
          <a:srcRect l="-3" t="-4" r="-3" b="-4"/>
          <a:stretch>
            <a:fillRect/>
          </a:stretch>
        </p:blipFill>
        <p:spPr>
          <a:xfrm>
            <a:off x="3369513" y="1446243"/>
            <a:ext cx="5452974" cy="4785671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09511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BF255-459D-6ED1-FD56-473310C83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0B73634D-5419-4C2B-6FAB-097FEEE14FD6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System Design and Development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7D10C-6FF0-FC79-1675-3621C2BBE6C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06876" y="6313542"/>
            <a:ext cx="4840295" cy="227643"/>
          </a:xfrm>
        </p:spPr>
        <p:txBody>
          <a:bodyPr>
            <a:noAutofit/>
          </a:bodyPr>
          <a:lstStyle/>
          <a:p>
            <a:pPr algn="ctr"/>
            <a:r>
              <a:rPr lang="en-IN" sz="1600" dirty="0"/>
              <a:t>Activity Diagram</a:t>
            </a:r>
          </a:p>
        </p:txBody>
      </p:sp>
      <p:pic>
        <p:nvPicPr>
          <p:cNvPr id="5" name="Image2">
            <a:extLst>
              <a:ext uri="{FF2B5EF4-FFF2-40B4-BE49-F238E27FC236}">
                <a16:creationId xmlns:a16="http://schemas.microsoft.com/office/drawing/2014/main" id="{98A0815A-0930-6E22-8E9A-70BB491B9FF7}"/>
              </a:ext>
            </a:extLst>
          </p:cNvPr>
          <p:cNvPicPr/>
          <p:nvPr/>
        </p:nvPicPr>
        <p:blipFill>
          <a:blip r:embed="rId4"/>
          <a:srcRect l="-13" t="-6" r="-13" b="-6"/>
          <a:stretch>
            <a:fillRect/>
          </a:stretch>
        </p:blipFill>
        <p:spPr>
          <a:xfrm>
            <a:off x="5157010" y="1362982"/>
            <a:ext cx="2867025" cy="4876628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38732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46738-23FA-7AF8-865F-48023F34D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8E4704CA-5BBA-1935-428A-F2EC432FE302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Database Design 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78A4F5-D870-5326-BAAE-5139871D3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868785"/>
              </p:ext>
            </p:extLst>
          </p:nvPr>
        </p:nvGraphicFramePr>
        <p:xfrm>
          <a:off x="2323323" y="2560418"/>
          <a:ext cx="7006944" cy="36223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3698">
                  <a:extLst>
                    <a:ext uri="{9D8B030D-6E8A-4147-A177-3AD203B41FA5}">
                      <a16:colId xmlns:a16="http://schemas.microsoft.com/office/drawing/2014/main" val="1244125109"/>
                    </a:ext>
                  </a:extLst>
                </a:gridCol>
                <a:gridCol w="1137787">
                  <a:extLst>
                    <a:ext uri="{9D8B030D-6E8A-4147-A177-3AD203B41FA5}">
                      <a16:colId xmlns:a16="http://schemas.microsoft.com/office/drawing/2014/main" val="3923015437"/>
                    </a:ext>
                  </a:extLst>
                </a:gridCol>
                <a:gridCol w="1751156">
                  <a:extLst>
                    <a:ext uri="{9D8B030D-6E8A-4147-A177-3AD203B41FA5}">
                      <a16:colId xmlns:a16="http://schemas.microsoft.com/office/drawing/2014/main" val="3800539565"/>
                    </a:ext>
                  </a:extLst>
                </a:gridCol>
                <a:gridCol w="2884303">
                  <a:extLst>
                    <a:ext uri="{9D8B030D-6E8A-4147-A177-3AD203B41FA5}">
                      <a16:colId xmlns:a16="http://schemas.microsoft.com/office/drawing/2014/main" val="2054111243"/>
                    </a:ext>
                  </a:extLst>
                </a:gridCol>
              </a:tblGrid>
              <a:tr h="293282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Field Name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Data Type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Key Constraint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Description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extLst>
                  <a:ext uri="{0D108BD9-81ED-4DB2-BD59-A6C34878D82A}">
                    <a16:rowId xmlns:a16="http://schemas.microsoft.com/office/drawing/2014/main" val="3679986246"/>
                  </a:ext>
                </a:extLst>
              </a:tr>
              <a:tr h="293282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_id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ObjectId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Primary Key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Unique identifier for each user.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extLst>
                  <a:ext uri="{0D108BD9-81ED-4DB2-BD59-A6C34878D82A}">
                    <a16:rowId xmlns:a16="http://schemas.microsoft.com/office/drawing/2014/main" val="747250548"/>
                  </a:ext>
                </a:extLst>
              </a:tr>
              <a:tr h="293282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fullName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String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Required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User's full name.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extLst>
                  <a:ext uri="{0D108BD9-81ED-4DB2-BD59-A6C34878D82A}">
                    <a16:rowId xmlns:a16="http://schemas.microsoft.com/office/drawing/2014/main" val="3693400392"/>
                  </a:ext>
                </a:extLst>
              </a:tr>
              <a:tr h="293282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username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String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Unique, Required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Unique username.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extLst>
                  <a:ext uri="{0D108BD9-81ED-4DB2-BD59-A6C34878D82A}">
                    <a16:rowId xmlns:a16="http://schemas.microsoft.com/office/drawing/2014/main" val="1225333014"/>
                  </a:ext>
                </a:extLst>
              </a:tr>
              <a:tr h="293282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email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String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Unique, Required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User email address.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extLst>
                  <a:ext uri="{0D108BD9-81ED-4DB2-BD59-A6C34878D82A}">
                    <a16:rowId xmlns:a16="http://schemas.microsoft.com/office/drawing/2014/main" val="849176932"/>
                  </a:ext>
                </a:extLst>
              </a:tr>
              <a:tr h="293282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password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String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Required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Bcrypt hashed password.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extLst>
                  <a:ext uri="{0D108BD9-81ED-4DB2-BD59-A6C34878D82A}">
                    <a16:rowId xmlns:a16="http://schemas.microsoft.com/office/drawing/2014/main" val="604011956"/>
                  </a:ext>
                </a:extLst>
              </a:tr>
              <a:tr h="293282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profilePic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String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Optional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Profile image URL.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extLst>
                  <a:ext uri="{0D108BD9-81ED-4DB2-BD59-A6C34878D82A}">
                    <a16:rowId xmlns:a16="http://schemas.microsoft.com/office/drawing/2014/main" val="3397462649"/>
                  </a:ext>
                </a:extLst>
              </a:tr>
              <a:tr h="152314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bio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String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Optional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User biography.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extLst>
                  <a:ext uri="{0D108BD9-81ED-4DB2-BD59-A6C34878D82A}">
                    <a16:rowId xmlns:a16="http://schemas.microsoft.com/office/drawing/2014/main" val="2682837902"/>
                  </a:ext>
                </a:extLst>
              </a:tr>
              <a:tr h="157988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phone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String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Optional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Mobile number.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extLst>
                  <a:ext uri="{0D108BD9-81ED-4DB2-BD59-A6C34878D82A}">
                    <a16:rowId xmlns:a16="http://schemas.microsoft.com/office/drawing/2014/main" val="2895756146"/>
                  </a:ext>
                </a:extLst>
              </a:tr>
              <a:tr h="293282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isOnline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Boolean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Default: false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User online status.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extLst>
                  <a:ext uri="{0D108BD9-81ED-4DB2-BD59-A6C34878D82A}">
                    <a16:rowId xmlns:a16="http://schemas.microsoft.com/office/drawing/2014/main" val="4291421858"/>
                  </a:ext>
                </a:extLst>
              </a:tr>
              <a:tr h="293282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lastSeen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Date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System Generated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Last active timestamp.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extLst>
                  <a:ext uri="{0D108BD9-81ED-4DB2-BD59-A6C34878D82A}">
                    <a16:rowId xmlns:a16="http://schemas.microsoft.com/office/drawing/2014/main" val="1308369419"/>
                  </a:ext>
                </a:extLst>
              </a:tr>
              <a:tr h="293282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createdAt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Date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System Generated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Account creation time.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extLst>
                  <a:ext uri="{0D108BD9-81ED-4DB2-BD59-A6C34878D82A}">
                    <a16:rowId xmlns:a16="http://schemas.microsoft.com/office/drawing/2014/main" val="787885345"/>
                  </a:ext>
                </a:extLst>
              </a:tr>
              <a:tr h="293282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updatedAt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Date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>
                          <a:effectLst/>
                        </a:rPr>
                        <a:t>System Generated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300" dirty="0">
                          <a:effectLst/>
                        </a:rPr>
                        <a:t>Last update time.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4154" marR="64154" marT="0" marB="0"/>
                </a:tc>
                <a:extLst>
                  <a:ext uri="{0D108BD9-81ED-4DB2-BD59-A6C34878D82A}">
                    <a16:rowId xmlns:a16="http://schemas.microsoft.com/office/drawing/2014/main" val="17164222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556F458-ADEB-3D27-86EB-572ED6CD9975}"/>
              </a:ext>
            </a:extLst>
          </p:cNvPr>
          <p:cNvSpPr txBox="1"/>
          <p:nvPr/>
        </p:nvSpPr>
        <p:spPr>
          <a:xfrm>
            <a:off x="2535594" y="17400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Users Table</a:t>
            </a:r>
            <a:endParaRPr lang="en-IN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3873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BC72F-3771-4CA1-ABBB-B3B10316E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5C3CB285-5E2C-C92D-DF87-FFB9B6353F34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Database Design 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AB1ACC-F936-0B41-1BF1-F13AC12917A5}"/>
              </a:ext>
            </a:extLst>
          </p:cNvPr>
          <p:cNvSpPr txBox="1"/>
          <p:nvPr/>
        </p:nvSpPr>
        <p:spPr>
          <a:xfrm>
            <a:off x="2535594" y="17400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Chat Collection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62896E-C16B-FB03-EF02-1536C45CF3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040352"/>
              </p:ext>
            </p:extLst>
          </p:nvPr>
        </p:nvGraphicFramePr>
        <p:xfrm>
          <a:off x="2535594" y="2337753"/>
          <a:ext cx="6642291" cy="40122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8885">
                  <a:extLst>
                    <a:ext uri="{9D8B030D-6E8A-4147-A177-3AD203B41FA5}">
                      <a16:colId xmlns:a16="http://schemas.microsoft.com/office/drawing/2014/main" val="1652504677"/>
                    </a:ext>
                  </a:extLst>
                </a:gridCol>
                <a:gridCol w="1448346">
                  <a:extLst>
                    <a:ext uri="{9D8B030D-6E8A-4147-A177-3AD203B41FA5}">
                      <a16:colId xmlns:a16="http://schemas.microsoft.com/office/drawing/2014/main" val="178367160"/>
                    </a:ext>
                  </a:extLst>
                </a:gridCol>
                <a:gridCol w="1606095">
                  <a:extLst>
                    <a:ext uri="{9D8B030D-6E8A-4147-A177-3AD203B41FA5}">
                      <a16:colId xmlns:a16="http://schemas.microsoft.com/office/drawing/2014/main" val="726356734"/>
                    </a:ext>
                  </a:extLst>
                </a:gridCol>
                <a:gridCol w="2388965">
                  <a:extLst>
                    <a:ext uri="{9D8B030D-6E8A-4147-A177-3AD203B41FA5}">
                      <a16:colId xmlns:a16="http://schemas.microsoft.com/office/drawing/2014/main" val="365277998"/>
                    </a:ext>
                  </a:extLst>
                </a:gridCol>
              </a:tblGrid>
              <a:tr h="341512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Field Name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Data Type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Key Constraint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Description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3747013"/>
                  </a:ext>
                </a:extLst>
              </a:tr>
              <a:tr h="341512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_id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ObjectId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Primary Key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Unique chat ID.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5445943"/>
                  </a:ext>
                </a:extLst>
              </a:tr>
              <a:tr h="341512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chatType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String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Required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Private or Group.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5530052"/>
                  </a:ext>
                </a:extLst>
              </a:tr>
              <a:tr h="341512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participants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Array(ObjectId)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Required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List of participant IDs.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8793949"/>
                  </a:ext>
                </a:extLst>
              </a:tr>
              <a:tr h="341512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groupName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String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Optional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Group name.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8543705"/>
                  </a:ext>
                </a:extLst>
              </a:tr>
              <a:tr h="341512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groupImage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String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Optional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Group profile image.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9876572"/>
                  </a:ext>
                </a:extLst>
              </a:tr>
              <a:tr h="341512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admins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Array(ObjectId)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Optional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Group admin IDs.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69904905"/>
                  </a:ext>
                </a:extLst>
              </a:tr>
              <a:tr h="341512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createdBy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ObjectId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Foreign Key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User who created the group.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65540935"/>
                  </a:ext>
                </a:extLst>
              </a:tr>
              <a:tr h="341512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lastMessage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ObjectId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Foreign Key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Latest message ID.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36171114"/>
                  </a:ext>
                </a:extLst>
              </a:tr>
              <a:tr h="341512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createdAt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Date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System Generated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Chat creation date.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8395007"/>
                  </a:ext>
                </a:extLst>
              </a:tr>
              <a:tr h="341512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updatedAt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Date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System Generated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 dirty="0">
                          <a:effectLst/>
                        </a:rPr>
                        <a:t>Last update date.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9903444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56689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74682-6766-CC25-6C04-3BD937F8E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8A38A388-0F4F-E9F6-C388-3A3084EB2A64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Database Design 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AB343B-E927-1679-1F9E-8E8BEE3DDFF2}"/>
              </a:ext>
            </a:extLst>
          </p:cNvPr>
          <p:cNvSpPr txBox="1"/>
          <p:nvPr/>
        </p:nvSpPr>
        <p:spPr>
          <a:xfrm>
            <a:off x="2535594" y="17400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Messages Collection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4AB4C1-4487-2C4D-A284-5A3978FE84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9662"/>
              </p:ext>
            </p:extLst>
          </p:nvPr>
        </p:nvGraphicFramePr>
        <p:xfrm>
          <a:off x="2192694" y="2371396"/>
          <a:ext cx="7183278" cy="41550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80126">
                  <a:extLst>
                    <a:ext uri="{9D8B030D-6E8A-4147-A177-3AD203B41FA5}">
                      <a16:colId xmlns:a16="http://schemas.microsoft.com/office/drawing/2014/main" val="3629950826"/>
                    </a:ext>
                  </a:extLst>
                </a:gridCol>
                <a:gridCol w="1442517">
                  <a:extLst>
                    <a:ext uri="{9D8B030D-6E8A-4147-A177-3AD203B41FA5}">
                      <a16:colId xmlns:a16="http://schemas.microsoft.com/office/drawing/2014/main" val="2133167261"/>
                    </a:ext>
                  </a:extLst>
                </a:gridCol>
                <a:gridCol w="1599365">
                  <a:extLst>
                    <a:ext uri="{9D8B030D-6E8A-4147-A177-3AD203B41FA5}">
                      <a16:colId xmlns:a16="http://schemas.microsoft.com/office/drawing/2014/main" val="3422583863"/>
                    </a:ext>
                  </a:extLst>
                </a:gridCol>
                <a:gridCol w="2861270">
                  <a:extLst>
                    <a:ext uri="{9D8B030D-6E8A-4147-A177-3AD203B41FA5}">
                      <a16:colId xmlns:a16="http://schemas.microsoft.com/office/drawing/2014/main" val="725190338"/>
                    </a:ext>
                  </a:extLst>
                </a:gridCol>
              </a:tblGrid>
              <a:tr h="447405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Field Name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Data Type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Key Constraint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Description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extLst>
                  <a:ext uri="{0D108BD9-81ED-4DB2-BD59-A6C34878D82A}">
                    <a16:rowId xmlns:a16="http://schemas.microsoft.com/office/drawing/2014/main" val="4021983999"/>
                  </a:ext>
                </a:extLst>
              </a:tr>
              <a:tr h="298270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_id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ObjectId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Primary Key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Unique message ID.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extLst>
                  <a:ext uri="{0D108BD9-81ED-4DB2-BD59-A6C34878D82A}">
                    <a16:rowId xmlns:a16="http://schemas.microsoft.com/office/drawing/2014/main" val="1329259721"/>
                  </a:ext>
                </a:extLst>
              </a:tr>
              <a:tr h="298270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chatId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ObjectId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Foreign Key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Chat reference.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extLst>
                  <a:ext uri="{0D108BD9-81ED-4DB2-BD59-A6C34878D82A}">
                    <a16:rowId xmlns:a16="http://schemas.microsoft.com/office/drawing/2014/main" val="2898091949"/>
                  </a:ext>
                </a:extLst>
              </a:tr>
              <a:tr h="298270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senderId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ObjectId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Foreign Key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Sender ID.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extLst>
                  <a:ext uri="{0D108BD9-81ED-4DB2-BD59-A6C34878D82A}">
                    <a16:rowId xmlns:a16="http://schemas.microsoft.com/office/drawing/2014/main" val="3437563443"/>
                  </a:ext>
                </a:extLst>
              </a:tr>
              <a:tr h="298270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message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String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Optional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Text message.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extLst>
                  <a:ext uri="{0D108BD9-81ED-4DB2-BD59-A6C34878D82A}">
                    <a16:rowId xmlns:a16="http://schemas.microsoft.com/office/drawing/2014/main" val="138133186"/>
                  </a:ext>
                </a:extLst>
              </a:tr>
              <a:tr h="298270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messageType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String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Required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Text, Image, Video, Audio, File.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extLst>
                  <a:ext uri="{0D108BD9-81ED-4DB2-BD59-A6C34878D82A}">
                    <a16:rowId xmlns:a16="http://schemas.microsoft.com/office/drawing/2014/main" val="565265112"/>
                  </a:ext>
                </a:extLst>
              </a:tr>
              <a:tr h="298270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mediaUrl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String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Optional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Uploaded media URL.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extLst>
                  <a:ext uri="{0D108BD9-81ED-4DB2-BD59-A6C34878D82A}">
                    <a16:rowId xmlns:a16="http://schemas.microsoft.com/office/drawing/2014/main" val="1967500109"/>
                  </a:ext>
                </a:extLst>
              </a:tr>
              <a:tr h="298270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replyTo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ObjectId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Optional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Reply message ID.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extLst>
                  <a:ext uri="{0D108BD9-81ED-4DB2-BD59-A6C34878D82A}">
                    <a16:rowId xmlns:a16="http://schemas.microsoft.com/office/drawing/2014/main" val="4024959904"/>
                  </a:ext>
                </a:extLst>
              </a:tr>
              <a:tr h="298270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seenBy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Array(ObjectId)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Optional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Users who have seen the message.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extLst>
                  <a:ext uri="{0D108BD9-81ED-4DB2-BD59-A6C34878D82A}">
                    <a16:rowId xmlns:a16="http://schemas.microsoft.com/office/drawing/2014/main" val="2275531451"/>
                  </a:ext>
                </a:extLst>
              </a:tr>
              <a:tr h="298270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deletedFor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Array(ObjectId)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Optional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Users who deleted the message.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extLst>
                  <a:ext uri="{0D108BD9-81ED-4DB2-BD59-A6C34878D82A}">
                    <a16:rowId xmlns:a16="http://schemas.microsoft.com/office/drawing/2014/main" val="479306045"/>
                  </a:ext>
                </a:extLst>
              </a:tr>
              <a:tr h="447405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createdAt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Date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System Generated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Message timestamp.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extLst>
                  <a:ext uri="{0D108BD9-81ED-4DB2-BD59-A6C34878D82A}">
                    <a16:rowId xmlns:a16="http://schemas.microsoft.com/office/drawing/2014/main" val="359086439"/>
                  </a:ext>
                </a:extLst>
              </a:tr>
              <a:tr h="447405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updatedAt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Date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System Generated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 dirty="0">
                          <a:effectLst/>
                        </a:rPr>
                        <a:t>Last edit timestamp.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6518" marR="66518" marT="0" marB="0"/>
                </a:tc>
                <a:extLst>
                  <a:ext uri="{0D108BD9-81ED-4DB2-BD59-A6C34878D82A}">
                    <a16:rowId xmlns:a16="http://schemas.microsoft.com/office/drawing/2014/main" val="83865758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823101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4AAAE-05CA-C548-0FD0-86F7CA4E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75FA9D2E-5767-8717-FA60-3ACDB1E0DFE5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Database Design 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623408-A56B-71C1-C571-B6000448ADEA}"/>
              </a:ext>
            </a:extLst>
          </p:cNvPr>
          <p:cNvSpPr txBox="1"/>
          <p:nvPr/>
        </p:nvSpPr>
        <p:spPr>
          <a:xfrm>
            <a:off x="2535594" y="17400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Status Collection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E8EF72-416E-E3D3-BDD4-4A48F05A7F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985814"/>
              </p:ext>
            </p:extLst>
          </p:nvPr>
        </p:nvGraphicFramePr>
        <p:xfrm>
          <a:off x="2364205" y="2504320"/>
          <a:ext cx="6919753" cy="33707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84978">
                  <a:extLst>
                    <a:ext uri="{9D8B030D-6E8A-4147-A177-3AD203B41FA5}">
                      <a16:colId xmlns:a16="http://schemas.microsoft.com/office/drawing/2014/main" val="2622806961"/>
                    </a:ext>
                  </a:extLst>
                </a:gridCol>
                <a:gridCol w="1507946">
                  <a:extLst>
                    <a:ext uri="{9D8B030D-6E8A-4147-A177-3AD203B41FA5}">
                      <a16:colId xmlns:a16="http://schemas.microsoft.com/office/drawing/2014/main" val="915660884"/>
                    </a:ext>
                  </a:extLst>
                </a:gridCol>
                <a:gridCol w="1672103">
                  <a:extLst>
                    <a:ext uri="{9D8B030D-6E8A-4147-A177-3AD203B41FA5}">
                      <a16:colId xmlns:a16="http://schemas.microsoft.com/office/drawing/2014/main" val="1627874263"/>
                    </a:ext>
                  </a:extLst>
                </a:gridCol>
                <a:gridCol w="2554726">
                  <a:extLst>
                    <a:ext uri="{9D8B030D-6E8A-4147-A177-3AD203B41FA5}">
                      <a16:colId xmlns:a16="http://schemas.microsoft.com/office/drawing/2014/main" val="4077235615"/>
                    </a:ext>
                  </a:extLst>
                </a:gridCol>
              </a:tblGrid>
              <a:tr h="565439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Field Name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Data Type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Key Constraint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Description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3748349"/>
                  </a:ext>
                </a:extLst>
              </a:tr>
              <a:tr h="344985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_id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ObjectId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Primary Key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Unique status ID.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1270771"/>
                  </a:ext>
                </a:extLst>
              </a:tr>
              <a:tr h="328156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userId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ObjectId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Foreign Key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User who posted status.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40707484"/>
                  </a:ext>
                </a:extLst>
              </a:tr>
              <a:tr h="344985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mediaUrl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String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Required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Image or video URL.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5322917"/>
                  </a:ext>
                </a:extLst>
              </a:tr>
              <a:tr h="328156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caption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String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Optional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Status caption.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408057"/>
                  </a:ext>
                </a:extLst>
              </a:tr>
              <a:tr h="565439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viewers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Array(ObjectId)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Optional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Users who viewed the status.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5577287"/>
                  </a:ext>
                </a:extLst>
              </a:tr>
              <a:tr h="328156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expiresAt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Date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Required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Status expiry (24 hours).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5182618"/>
                  </a:ext>
                </a:extLst>
              </a:tr>
              <a:tr h="565439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createdAt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Date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System Generated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 dirty="0">
                          <a:effectLst/>
                        </a:rPr>
                        <a:t>Upload timestamp.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947178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43788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05A49-2DBC-9147-2203-49456DAF8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FE00537B-5DFA-DFEC-41FE-E396FB43F455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Database Design 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0C1264-66FA-AC53-A52D-9E097DFA4E5C}"/>
              </a:ext>
            </a:extLst>
          </p:cNvPr>
          <p:cNvSpPr txBox="1"/>
          <p:nvPr/>
        </p:nvSpPr>
        <p:spPr>
          <a:xfrm>
            <a:off x="2535594" y="17400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Notifications Collection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DAD925-7963-4AE6-A232-92D105AD3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093451"/>
              </p:ext>
            </p:extLst>
          </p:nvPr>
        </p:nvGraphicFramePr>
        <p:xfrm>
          <a:off x="2127380" y="2342515"/>
          <a:ext cx="7231225" cy="35357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9972">
                  <a:extLst>
                    <a:ext uri="{9D8B030D-6E8A-4147-A177-3AD203B41FA5}">
                      <a16:colId xmlns:a16="http://schemas.microsoft.com/office/drawing/2014/main" val="3535381713"/>
                    </a:ext>
                  </a:extLst>
                </a:gridCol>
                <a:gridCol w="1293307">
                  <a:extLst>
                    <a:ext uri="{9D8B030D-6E8A-4147-A177-3AD203B41FA5}">
                      <a16:colId xmlns:a16="http://schemas.microsoft.com/office/drawing/2014/main" val="2295451426"/>
                    </a:ext>
                  </a:extLst>
                </a:gridCol>
                <a:gridCol w="1974862">
                  <a:extLst>
                    <a:ext uri="{9D8B030D-6E8A-4147-A177-3AD203B41FA5}">
                      <a16:colId xmlns:a16="http://schemas.microsoft.com/office/drawing/2014/main" val="268480390"/>
                    </a:ext>
                  </a:extLst>
                </a:gridCol>
                <a:gridCol w="2563084">
                  <a:extLst>
                    <a:ext uri="{9D8B030D-6E8A-4147-A177-3AD203B41FA5}">
                      <a16:colId xmlns:a16="http://schemas.microsoft.com/office/drawing/2014/main" val="1985240605"/>
                    </a:ext>
                  </a:extLst>
                </a:gridCol>
              </a:tblGrid>
              <a:tr h="385018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Field Name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Data Type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Key Constraint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Description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0730977"/>
                  </a:ext>
                </a:extLst>
              </a:tr>
              <a:tr h="402670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_id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ObjectId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Primary Key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Notification ID.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1645830"/>
                  </a:ext>
                </a:extLst>
              </a:tr>
              <a:tr h="385018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userId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ObjectId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Foreign Key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Receiver ID.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8761230"/>
                  </a:ext>
                </a:extLst>
              </a:tr>
              <a:tr h="402670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senderId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ObjectId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Foreign Key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Sender ID.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0287661"/>
                  </a:ext>
                </a:extLst>
              </a:tr>
              <a:tr h="385018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type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String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Required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Message, Group, Status.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8422194"/>
                  </a:ext>
                </a:extLst>
              </a:tr>
              <a:tr h="402670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title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String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Required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Notification title.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1486557"/>
                  </a:ext>
                </a:extLst>
              </a:tr>
              <a:tr h="385018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body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String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Required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Notification content.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7512595"/>
                  </a:ext>
                </a:extLst>
              </a:tr>
              <a:tr h="402670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isRead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Boolean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Default: false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Read status.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3312989"/>
                  </a:ext>
                </a:extLst>
              </a:tr>
              <a:tr h="385018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createdAt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Date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System Generated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 dirty="0">
                          <a:effectLst/>
                        </a:rPr>
                        <a:t>Notification time.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766276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802872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BAD5F-D993-91A0-B5CA-947FE6003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6F794863-DBD3-C280-3DB3-7DD23870F280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Database Design 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69C749-9188-20FB-6B4D-F22BFA7DBC65}"/>
              </a:ext>
            </a:extLst>
          </p:cNvPr>
          <p:cNvSpPr txBox="1"/>
          <p:nvPr/>
        </p:nvSpPr>
        <p:spPr>
          <a:xfrm>
            <a:off x="2535594" y="17400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Settings Collection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13C386-B1EF-26DE-DF08-2E045B74C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768936"/>
              </p:ext>
            </p:extLst>
          </p:nvPr>
        </p:nvGraphicFramePr>
        <p:xfrm>
          <a:off x="1894114" y="2439145"/>
          <a:ext cx="7380514" cy="38496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75132">
                  <a:extLst>
                    <a:ext uri="{9D8B030D-6E8A-4147-A177-3AD203B41FA5}">
                      <a16:colId xmlns:a16="http://schemas.microsoft.com/office/drawing/2014/main" val="2540498139"/>
                    </a:ext>
                  </a:extLst>
                </a:gridCol>
                <a:gridCol w="1215453">
                  <a:extLst>
                    <a:ext uri="{9D8B030D-6E8A-4147-A177-3AD203B41FA5}">
                      <a16:colId xmlns:a16="http://schemas.microsoft.com/office/drawing/2014/main" val="278990764"/>
                    </a:ext>
                  </a:extLst>
                </a:gridCol>
                <a:gridCol w="1867883">
                  <a:extLst>
                    <a:ext uri="{9D8B030D-6E8A-4147-A177-3AD203B41FA5}">
                      <a16:colId xmlns:a16="http://schemas.microsoft.com/office/drawing/2014/main" val="9464393"/>
                    </a:ext>
                  </a:extLst>
                </a:gridCol>
                <a:gridCol w="2422046">
                  <a:extLst>
                    <a:ext uri="{9D8B030D-6E8A-4147-A177-3AD203B41FA5}">
                      <a16:colId xmlns:a16="http://schemas.microsoft.com/office/drawing/2014/main" val="3988465927"/>
                    </a:ext>
                  </a:extLst>
                </a:gridCol>
              </a:tblGrid>
              <a:tr h="384969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Field Name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Data Type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Key Constraint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Description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5169625"/>
                  </a:ext>
                </a:extLst>
              </a:tr>
              <a:tr h="384969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_id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ObjectId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Primary Key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Setting ID.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7366874"/>
                  </a:ext>
                </a:extLst>
              </a:tr>
              <a:tr h="384969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userId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ObjectId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Foreign Key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User reference.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8649726"/>
                  </a:ext>
                </a:extLst>
              </a:tr>
              <a:tr h="384969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theme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String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Default: Light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App theme.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1254252"/>
                  </a:ext>
                </a:extLst>
              </a:tr>
              <a:tr h="384969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language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String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Default: English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Preferred language.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0535551"/>
                  </a:ext>
                </a:extLst>
              </a:tr>
              <a:tr h="384969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notifications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Boolean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Default: true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Notification preference.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03992980"/>
                  </a:ext>
                </a:extLst>
              </a:tr>
              <a:tr h="384969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privacy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String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Default: Everyone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Privacy setting.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4660898"/>
                  </a:ext>
                </a:extLst>
              </a:tr>
              <a:tr h="384969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lastSeenVisibility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String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Default: Everyone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Last seen visibility.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8146651"/>
                  </a:ext>
                </a:extLst>
              </a:tr>
              <a:tr h="384969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createdAt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Date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System Generated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Created timestamp.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4333683"/>
                  </a:ext>
                </a:extLst>
              </a:tr>
              <a:tr h="384969"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updatedAt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Date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>
                          <a:effectLst/>
                        </a:rPr>
                        <a:t>System Generated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400" dirty="0">
                          <a:effectLst/>
                        </a:rPr>
                        <a:t>Last updated timestamp.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201484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75801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DFEB3-AB70-7BB5-BFA8-88FC70481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B4EC69BC-4182-9853-54C0-05E70ECEC6F6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Screen Design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B2938F-D744-8CA4-2DAB-009EBA918AFD}"/>
              </a:ext>
            </a:extLst>
          </p:cNvPr>
          <p:cNvSpPr txBox="1"/>
          <p:nvPr/>
        </p:nvSpPr>
        <p:spPr>
          <a:xfrm>
            <a:off x="2535594" y="17400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User Search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6CF1E2-8F1F-5D17-B246-0B1007BD7C4A}"/>
              </a:ext>
            </a:extLst>
          </p:cNvPr>
          <p:cNvPicPr/>
          <p:nvPr/>
        </p:nvPicPr>
        <p:blipFill>
          <a:blip r:embed="rId4"/>
          <a:srcRect l="-2" t="-4" r="-2" b="-4"/>
          <a:stretch>
            <a:fillRect/>
          </a:stretch>
        </p:blipFill>
        <p:spPr>
          <a:xfrm>
            <a:off x="2535593" y="2426082"/>
            <a:ext cx="6683051" cy="4012040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25527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36E12-AEC0-FDED-51AF-EFA097F80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FBE17FA5-99C6-120F-0A13-31B7855163DA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Screen Design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E71ED-544E-D79E-CB41-69E15238B6C9}"/>
              </a:ext>
            </a:extLst>
          </p:cNvPr>
          <p:cNvSpPr txBox="1"/>
          <p:nvPr/>
        </p:nvSpPr>
        <p:spPr>
          <a:xfrm>
            <a:off x="2535594" y="17400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Status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7421E6-E6B9-8DE2-2509-BFB118DFEDC8}"/>
              </a:ext>
            </a:extLst>
          </p:cNvPr>
          <p:cNvPicPr/>
          <p:nvPr/>
        </p:nvPicPr>
        <p:blipFill>
          <a:blip r:embed="rId4"/>
          <a:srcRect l="-2" t="-4" r="-2" b="-4"/>
          <a:stretch>
            <a:fillRect/>
          </a:stretch>
        </p:blipFill>
        <p:spPr>
          <a:xfrm>
            <a:off x="2535594" y="2304784"/>
            <a:ext cx="6860333" cy="4021371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783562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67877-CC29-27A8-78AD-A94A56CB8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80880129-3607-A0E8-333A-506BEF648B71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Screen Design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1ED535-1857-A0A5-2EB6-96DAD1CE882D}"/>
              </a:ext>
            </a:extLst>
          </p:cNvPr>
          <p:cNvSpPr txBox="1"/>
          <p:nvPr/>
        </p:nvSpPr>
        <p:spPr>
          <a:xfrm>
            <a:off x="2535594" y="17400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Media and Gallery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60746F-7D6C-0AE6-F629-BD89BC2A350F}"/>
              </a:ext>
            </a:extLst>
          </p:cNvPr>
          <p:cNvPicPr/>
          <p:nvPr/>
        </p:nvPicPr>
        <p:blipFill>
          <a:blip r:embed="rId4"/>
          <a:srcRect l="-2" t="-4" r="-2" b="-4"/>
          <a:stretch>
            <a:fillRect/>
          </a:stretch>
        </p:blipFill>
        <p:spPr>
          <a:xfrm>
            <a:off x="2535593" y="2373150"/>
            <a:ext cx="6841671" cy="4064972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387287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812A7-F046-EE53-2668-E11B43279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C3EBBC3F-B29C-C48F-F695-E2A31AB73BA2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Screen Design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EA06AF-8B46-B5EB-8E5F-A5D551209D9A}"/>
              </a:ext>
            </a:extLst>
          </p:cNvPr>
          <p:cNvSpPr txBox="1"/>
          <p:nvPr/>
        </p:nvSpPr>
        <p:spPr>
          <a:xfrm>
            <a:off x="2535594" y="17400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Settings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045BA1-506E-872A-9889-F5B9D33BC08D}"/>
              </a:ext>
            </a:extLst>
          </p:cNvPr>
          <p:cNvPicPr/>
          <p:nvPr/>
        </p:nvPicPr>
        <p:blipFill>
          <a:blip r:embed="rId4"/>
          <a:srcRect l="-2" t="-4" r="-2" b="-4"/>
          <a:stretch>
            <a:fillRect/>
          </a:stretch>
        </p:blipFill>
        <p:spPr>
          <a:xfrm>
            <a:off x="2535593" y="2192816"/>
            <a:ext cx="6813679" cy="4366604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100774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C5E82-8172-3F96-C4C9-18018A184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3A2FAC0E-1BBF-3AAA-D6A4-915E7D63F56A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Screen Design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4645DE-43DB-4AC3-DFB9-8A9A5AE2A0DA}"/>
              </a:ext>
            </a:extLst>
          </p:cNvPr>
          <p:cNvSpPr txBox="1"/>
          <p:nvPr/>
        </p:nvSpPr>
        <p:spPr>
          <a:xfrm>
            <a:off x="2535594" y="17400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Profile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84395E-6D44-9660-742C-6834A41D1114}"/>
              </a:ext>
            </a:extLst>
          </p:cNvPr>
          <p:cNvPicPr/>
          <p:nvPr/>
        </p:nvPicPr>
        <p:blipFill>
          <a:blip r:embed="rId4"/>
          <a:srcRect l="-2" t="-4" r="-2" b="-4"/>
          <a:stretch>
            <a:fillRect/>
          </a:stretch>
        </p:blipFill>
        <p:spPr>
          <a:xfrm>
            <a:off x="2535594" y="2258130"/>
            <a:ext cx="6729704" cy="4235976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579025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86EEF-1F1E-2F79-3B0E-095ADB7F2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1B63ECBB-2EF4-167F-0C02-3C8BA7E4F184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Screen Design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8D8B78-EB6B-5770-588C-713E73A30FF1}"/>
              </a:ext>
            </a:extLst>
          </p:cNvPr>
          <p:cNvSpPr txBox="1"/>
          <p:nvPr/>
        </p:nvSpPr>
        <p:spPr>
          <a:xfrm>
            <a:off x="2535594" y="17400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Admin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771CFF-0F91-A13A-7BCE-75E4CE2046B1}"/>
              </a:ext>
            </a:extLst>
          </p:cNvPr>
          <p:cNvPicPr/>
          <p:nvPr/>
        </p:nvPicPr>
        <p:blipFill>
          <a:blip r:embed="rId4"/>
          <a:srcRect l="-2" t="-4" r="-2" b="-4"/>
          <a:stretch>
            <a:fillRect/>
          </a:stretch>
        </p:blipFill>
        <p:spPr>
          <a:xfrm>
            <a:off x="2535593" y="2289330"/>
            <a:ext cx="6813679" cy="4270089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410298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FE4BE-458B-7547-A5A6-60415BD13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29E2D891-E42F-DEA2-422A-43A489439B93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Screen Design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01319F-D7AE-B27C-6BB5-FC6E58E10B57}"/>
              </a:ext>
            </a:extLst>
          </p:cNvPr>
          <p:cNvSpPr txBox="1"/>
          <p:nvPr/>
        </p:nvSpPr>
        <p:spPr>
          <a:xfrm>
            <a:off x="2535594" y="17400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User Panel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854DC5-F692-9DE3-DAE7-8823D4109747}"/>
              </a:ext>
            </a:extLst>
          </p:cNvPr>
          <p:cNvPicPr/>
          <p:nvPr/>
        </p:nvPicPr>
        <p:blipFill>
          <a:blip r:embed="rId4"/>
          <a:srcRect l="-2" t="-4" r="-2" b="-4"/>
          <a:stretch>
            <a:fillRect/>
          </a:stretch>
        </p:blipFill>
        <p:spPr>
          <a:xfrm>
            <a:off x="2535594" y="2315099"/>
            <a:ext cx="6823010" cy="4234991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48057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58549-D755-BF2E-AA3C-BADC64AE5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8015FB41-5995-BE10-B4FD-4187D19F1D1C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Project overview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EBD885-371F-6B61-5CB0-4A14A35084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34" y="1673982"/>
            <a:ext cx="10378932" cy="472405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22470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A5EF4-7237-E8F0-B308-50C752809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CE6A6E33-015D-6EAF-5AD9-A09F902682A7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Project overview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6278DB-1B93-DF24-FCB9-00B63E7F9928}"/>
              </a:ext>
            </a:extLst>
          </p:cNvPr>
          <p:cNvSpPr txBox="1"/>
          <p:nvPr/>
        </p:nvSpPr>
        <p:spPr>
          <a:xfrm>
            <a:off x="2302328" y="2106990"/>
            <a:ext cx="660840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1. User Registration and Login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Comic Sans MS" panose="030F0702030302020204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Users can create a new account with their details.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Registered users can securely log in to the application.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JWT authentication is used to protect user sessions.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Passwords are securely hashed before storing in the database.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Users can manage their profile information.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Comic Sans MS" panose="030F0702030302020204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2. Dashboard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Comic Sans MS" panose="030F0702030302020204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Displays recent conversations.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Shows online users and their availability.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Users can quickly search for other users.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Provides easy navigation to chats, profile, status, notifications and settings.</a:t>
            </a:r>
            <a:endParaRPr lang="en-IN" sz="1800" dirty="0">
              <a:latin typeface="Comic Sans MS" panose="030F0702030302020204" pitchFamily="66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39571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56DE6-B929-DB00-3F9E-38F062B67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9FFBD1BA-502F-5539-A184-BBF3DAA207A8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Project overview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50A0FA-F67F-713B-86E8-49145D22D504}"/>
              </a:ext>
            </a:extLst>
          </p:cNvPr>
          <p:cNvSpPr txBox="1"/>
          <p:nvPr/>
        </p:nvSpPr>
        <p:spPr>
          <a:xfrm>
            <a:off x="2181031" y="2056686"/>
            <a:ext cx="723355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3. Private Chat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Comic Sans MS" panose="030F0702030302020204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Users can communicate through one-to-one chat.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Messages are delivered in real time using Socket.io.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Typing indicators show when another user is typing.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Online/offline presence and last-seen information are supported.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Users can share text, emojis, images, videos and files.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Message read/seen status is maintained.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Comic Sans MS" panose="030F0702030302020204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4. Group Chat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Comic Sans MS" panose="030F0702030302020204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Users can create group conversations.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Multiple users can communicate in the same chat.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Group members can be added or managed.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Group information and messages are stored in MongoDB.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Group messages are delivered in real time.</a:t>
            </a:r>
            <a:endParaRPr lang="en-IN" sz="1800" dirty="0">
              <a:latin typeface="Comic Sans MS" panose="030F0702030302020204" pitchFamily="66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07889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2D6DB-9C8C-7D79-60A2-A545A39F2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87F39561-7086-25F1-2659-85A63F07CC25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Project overview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6EBE6B-579A-70EF-A30A-6F857C401F02}"/>
              </a:ext>
            </a:extLst>
          </p:cNvPr>
          <p:cNvSpPr txBox="1"/>
          <p:nvPr/>
        </p:nvSpPr>
        <p:spPr>
          <a:xfrm>
            <a:off x="2134378" y="2196701"/>
            <a:ext cx="691631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5. Social Features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Comic Sans MS" panose="030F0702030302020204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Users can search for other users.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Follow and unfollow functionality is available.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Private accounts can receive follow requests.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Follow requests can be accepted or rejected.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Users can block other users when required.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Comic Sans MS" panose="030F0702030302020204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6. Status &amp; Notifications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Comic Sans MS" panose="030F0702030302020204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Users can upload status updates.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Status supports images, videos and text.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Status automatically expires after 24 hours.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The system keeps track of status viewers.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Real-time notifications are provided for follow requests and other activities.</a:t>
            </a:r>
            <a:endParaRPr lang="en-IN" sz="1800" dirty="0">
              <a:latin typeface="Comic Sans MS" panose="030F0702030302020204" pitchFamily="66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28481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A92DD-05EA-5501-8571-502CDA874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00B6CAB8-164B-AA23-2166-906882AC1086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Project overview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CFB4FE-1B8F-B19A-40C0-9988815969F1}"/>
              </a:ext>
            </a:extLst>
          </p:cNvPr>
          <p:cNvSpPr txBox="1"/>
          <p:nvPr/>
        </p:nvSpPr>
        <p:spPr>
          <a:xfrm>
            <a:off x="2265008" y="2952480"/>
            <a:ext cx="60975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7. Settings &amp; Security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Comic Sans MS" panose="030F0702030302020204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Users can edit account/profile settings.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Password change functionality is available.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Users can manage privacy and blocked users.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Light and Dark themes are supported.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Protected routes prevent unauthorized access.</a:t>
            </a:r>
            <a:endParaRPr lang="en-IN" dirty="0">
              <a:latin typeface="Comic Sans MS" panose="030F0702030302020204" pitchFamily="66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6709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6A0D0-2759-D9E4-857F-7ED97CDBF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0D7E73C3-D78C-46EA-18CC-9E3B841A052B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Project overview</a:t>
            </a:r>
            <a:endParaRPr lang="en-IN" altLang="en-US" sz="31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C6A45C-918F-CC18-AA23-1B2646DC785D}"/>
              </a:ext>
            </a:extLst>
          </p:cNvPr>
          <p:cNvSpPr txBox="1"/>
          <p:nvPr/>
        </p:nvSpPr>
        <p:spPr>
          <a:xfrm>
            <a:off x="2199693" y="1832806"/>
            <a:ext cx="705627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8. MongoDB Database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The application stores important information such as: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User accounts and profiles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Followers, following and follow requests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Private and group chats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Messages and media information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Notifications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Status updates and viewers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Search history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Comic Sans MS" panose="030F0702030302020204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Technology Stack: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Frontend: React.js, Vite, React Router, Axios, Vanilla CSS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Backend: Node.js, Express.js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Database: MongoDB with Mongoose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Real-Time: Socket.io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Security: JWT + </a:t>
            </a:r>
            <a:r>
              <a:rPr lang="en-US" dirty="0" err="1">
                <a:latin typeface="Comic Sans MS" panose="030F0702030302020204" pitchFamily="66" charset="0"/>
              </a:rPr>
              <a:t>bcrypt</a:t>
            </a:r>
            <a:endParaRPr lang="en-US" dirty="0">
              <a:latin typeface="Comic Sans MS" panose="030F0702030302020204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File Upload: Multer</a:t>
            </a:r>
            <a:endParaRPr lang="en-IN" dirty="0">
              <a:latin typeface="Comic Sans MS" panose="030F0702030302020204" pitchFamily="66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31496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0F5BC-4162-CD58-980D-408BA7769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6E725AC1-5429-DD78-F22F-BC9848C7CB1C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SYSTEM TESTING</a:t>
            </a:r>
            <a:endParaRPr lang="en-IN" altLang="en-US" sz="32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5ECAC0-869A-86DD-F941-1C251BE49290}"/>
              </a:ext>
            </a:extLst>
          </p:cNvPr>
          <p:cNvSpPr txBox="1"/>
          <p:nvPr/>
        </p:nvSpPr>
        <p:spPr>
          <a:xfrm>
            <a:off x="2535594" y="17400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/>
              <a:t>Registration &amp; Login Testing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9C3DDD-598D-B779-ACD5-29C76F1233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591743"/>
              </p:ext>
            </p:extLst>
          </p:nvPr>
        </p:nvGraphicFramePr>
        <p:xfrm>
          <a:off x="1503104" y="2414263"/>
          <a:ext cx="9185792" cy="40570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8224">
                  <a:extLst>
                    <a:ext uri="{9D8B030D-6E8A-4147-A177-3AD203B41FA5}">
                      <a16:colId xmlns:a16="http://schemas.microsoft.com/office/drawing/2014/main" val="3076574787"/>
                    </a:ext>
                  </a:extLst>
                </a:gridCol>
                <a:gridCol w="1148224">
                  <a:extLst>
                    <a:ext uri="{9D8B030D-6E8A-4147-A177-3AD203B41FA5}">
                      <a16:colId xmlns:a16="http://schemas.microsoft.com/office/drawing/2014/main" val="3787087942"/>
                    </a:ext>
                  </a:extLst>
                </a:gridCol>
                <a:gridCol w="1148224">
                  <a:extLst>
                    <a:ext uri="{9D8B030D-6E8A-4147-A177-3AD203B41FA5}">
                      <a16:colId xmlns:a16="http://schemas.microsoft.com/office/drawing/2014/main" val="135442865"/>
                    </a:ext>
                  </a:extLst>
                </a:gridCol>
                <a:gridCol w="1148224">
                  <a:extLst>
                    <a:ext uri="{9D8B030D-6E8A-4147-A177-3AD203B41FA5}">
                      <a16:colId xmlns:a16="http://schemas.microsoft.com/office/drawing/2014/main" val="3821140897"/>
                    </a:ext>
                  </a:extLst>
                </a:gridCol>
                <a:gridCol w="1148224">
                  <a:extLst>
                    <a:ext uri="{9D8B030D-6E8A-4147-A177-3AD203B41FA5}">
                      <a16:colId xmlns:a16="http://schemas.microsoft.com/office/drawing/2014/main" val="1194762703"/>
                    </a:ext>
                  </a:extLst>
                </a:gridCol>
                <a:gridCol w="1148224">
                  <a:extLst>
                    <a:ext uri="{9D8B030D-6E8A-4147-A177-3AD203B41FA5}">
                      <a16:colId xmlns:a16="http://schemas.microsoft.com/office/drawing/2014/main" val="3767656561"/>
                    </a:ext>
                  </a:extLst>
                </a:gridCol>
                <a:gridCol w="1148224">
                  <a:extLst>
                    <a:ext uri="{9D8B030D-6E8A-4147-A177-3AD203B41FA5}">
                      <a16:colId xmlns:a16="http://schemas.microsoft.com/office/drawing/2014/main" val="2657581055"/>
                    </a:ext>
                  </a:extLst>
                </a:gridCol>
                <a:gridCol w="1148224">
                  <a:extLst>
                    <a:ext uri="{9D8B030D-6E8A-4147-A177-3AD203B41FA5}">
                      <a16:colId xmlns:a16="http://schemas.microsoft.com/office/drawing/2014/main" val="1926033225"/>
                    </a:ext>
                  </a:extLst>
                </a:gridCol>
              </a:tblGrid>
              <a:tr h="250152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case 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case objective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Pre-requisite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Steps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Input data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Expected output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Actual output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Status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8444747"/>
                  </a:ext>
                </a:extLst>
              </a:tr>
              <a:tr h="750457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Tc_01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user registration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Registration page should be accessible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Open sign up page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Enter details 3. Click sign up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Name, username, email, password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 account should be created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Account created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1761714"/>
                  </a:ext>
                </a:extLst>
              </a:tr>
              <a:tr h="1250762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Tc_02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user login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 should be registered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Open login page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2.Enter email/username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3.Enter password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4. Click login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Valid login details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 should login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 logged in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7345198"/>
                  </a:ext>
                </a:extLst>
              </a:tr>
              <a:tr h="1000609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Tc_03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invalid login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Login page should be accessible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Enter invalid email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Enter incorrect password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3. Click login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Incorrect email/password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Error message should be displayed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Error message displayed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5135197"/>
                  </a:ext>
                </a:extLst>
              </a:tr>
              <a:tr h="750457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Tc_04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logout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 should be logged in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Open settings/profile 2. Click logout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Logged-in user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 should logout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 logged out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 dirty="0">
                          <a:effectLst/>
                        </a:rPr>
                        <a:t>Pass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04457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11697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8ED41-7A35-439B-8555-541D31308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162D115A-DBC6-BC90-7CB0-BC82C80FB0ED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SYSTEM TESTING</a:t>
            </a:r>
            <a:endParaRPr lang="en-IN" altLang="en-US" sz="32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727F86-DC5B-DAEB-CECF-02E03F6CB2E4}"/>
              </a:ext>
            </a:extLst>
          </p:cNvPr>
          <p:cNvSpPr txBox="1"/>
          <p:nvPr/>
        </p:nvSpPr>
        <p:spPr>
          <a:xfrm>
            <a:off x="2535594" y="17400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Private Chat Testing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2FFD77-451F-1446-69A0-6A01A89AA5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904588"/>
              </p:ext>
            </p:extLst>
          </p:nvPr>
        </p:nvGraphicFramePr>
        <p:xfrm>
          <a:off x="1544412" y="2299005"/>
          <a:ext cx="8859224" cy="43323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7403">
                  <a:extLst>
                    <a:ext uri="{9D8B030D-6E8A-4147-A177-3AD203B41FA5}">
                      <a16:colId xmlns:a16="http://schemas.microsoft.com/office/drawing/2014/main" val="5492334"/>
                    </a:ext>
                  </a:extLst>
                </a:gridCol>
                <a:gridCol w="1107403">
                  <a:extLst>
                    <a:ext uri="{9D8B030D-6E8A-4147-A177-3AD203B41FA5}">
                      <a16:colId xmlns:a16="http://schemas.microsoft.com/office/drawing/2014/main" val="1163570878"/>
                    </a:ext>
                  </a:extLst>
                </a:gridCol>
                <a:gridCol w="1107403">
                  <a:extLst>
                    <a:ext uri="{9D8B030D-6E8A-4147-A177-3AD203B41FA5}">
                      <a16:colId xmlns:a16="http://schemas.microsoft.com/office/drawing/2014/main" val="3271981645"/>
                    </a:ext>
                  </a:extLst>
                </a:gridCol>
                <a:gridCol w="1107403">
                  <a:extLst>
                    <a:ext uri="{9D8B030D-6E8A-4147-A177-3AD203B41FA5}">
                      <a16:colId xmlns:a16="http://schemas.microsoft.com/office/drawing/2014/main" val="4011168292"/>
                    </a:ext>
                  </a:extLst>
                </a:gridCol>
                <a:gridCol w="1107403">
                  <a:extLst>
                    <a:ext uri="{9D8B030D-6E8A-4147-A177-3AD203B41FA5}">
                      <a16:colId xmlns:a16="http://schemas.microsoft.com/office/drawing/2014/main" val="106521654"/>
                    </a:ext>
                  </a:extLst>
                </a:gridCol>
                <a:gridCol w="1107403">
                  <a:extLst>
                    <a:ext uri="{9D8B030D-6E8A-4147-A177-3AD203B41FA5}">
                      <a16:colId xmlns:a16="http://schemas.microsoft.com/office/drawing/2014/main" val="1004910365"/>
                    </a:ext>
                  </a:extLst>
                </a:gridCol>
                <a:gridCol w="1107403">
                  <a:extLst>
                    <a:ext uri="{9D8B030D-6E8A-4147-A177-3AD203B41FA5}">
                      <a16:colId xmlns:a16="http://schemas.microsoft.com/office/drawing/2014/main" val="629577540"/>
                    </a:ext>
                  </a:extLst>
                </a:gridCol>
                <a:gridCol w="1107403">
                  <a:extLst>
                    <a:ext uri="{9D8B030D-6E8A-4147-A177-3AD203B41FA5}">
                      <a16:colId xmlns:a16="http://schemas.microsoft.com/office/drawing/2014/main" val="3820552385"/>
                    </a:ext>
                  </a:extLst>
                </a:gridCol>
              </a:tblGrid>
              <a:tr h="268500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case 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case objective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Pre-requisite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Steps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Input data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Expected output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Actual output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Status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3247240"/>
                  </a:ext>
                </a:extLst>
              </a:tr>
              <a:tr h="537000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Tc_05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private chat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Two users should be connected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Select user 2. Open chat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Selected user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Private chat should open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Chat opened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89033010"/>
                  </a:ext>
                </a:extLst>
              </a:tr>
              <a:tr h="537000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Tc_06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send message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Chat should be open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Type message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Click send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"hello"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Message should be sent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Message sent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5503894"/>
                  </a:ext>
                </a:extLst>
              </a:tr>
              <a:tr h="805500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Tc_07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receive message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Both users should be online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User a sends message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Check user b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Text message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Message should appear in real time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Message received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4417546"/>
                  </a:ext>
                </a:extLst>
              </a:tr>
              <a:tr h="537000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Tc_08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chat history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Previous messages should exist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Open existing chat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Existing conversation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Previous messages should be displayed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Chat history displayed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9258841"/>
                  </a:ext>
                </a:extLst>
              </a:tr>
              <a:tr h="805500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Tc_09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emoji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Chat should be open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Open emoji option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Select emoji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3. Send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😊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Emoji should be sent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Emoji sent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0712787"/>
                  </a:ext>
                </a:extLst>
              </a:tr>
              <a:tr h="805500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Tc_10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message seen status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Message should be sent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Send message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Receiver opens chat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Sent message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Seen status should update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Seen status updated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 dirty="0">
                          <a:effectLst/>
                        </a:rPr>
                        <a:t>Pass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657808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872791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275BF-0C19-B9E3-9956-F8A284E7B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5317F455-5676-2614-A2B3-59C48E7CC27F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SYSTEM TESTING</a:t>
            </a:r>
            <a:endParaRPr lang="en-IN" altLang="en-US" sz="32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D6406D-8CBC-CEF3-201A-BF95ABA0124F}"/>
              </a:ext>
            </a:extLst>
          </p:cNvPr>
          <p:cNvSpPr txBox="1"/>
          <p:nvPr/>
        </p:nvSpPr>
        <p:spPr>
          <a:xfrm>
            <a:off x="2535594" y="17400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Chat Testing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FC5E88-27EF-01EC-FB60-485FA26EA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658041"/>
              </p:ext>
            </p:extLst>
          </p:nvPr>
        </p:nvGraphicFramePr>
        <p:xfrm>
          <a:off x="1780672" y="2180032"/>
          <a:ext cx="8630656" cy="44512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8832">
                  <a:extLst>
                    <a:ext uri="{9D8B030D-6E8A-4147-A177-3AD203B41FA5}">
                      <a16:colId xmlns:a16="http://schemas.microsoft.com/office/drawing/2014/main" val="591543207"/>
                    </a:ext>
                  </a:extLst>
                </a:gridCol>
                <a:gridCol w="1078832">
                  <a:extLst>
                    <a:ext uri="{9D8B030D-6E8A-4147-A177-3AD203B41FA5}">
                      <a16:colId xmlns:a16="http://schemas.microsoft.com/office/drawing/2014/main" val="608343496"/>
                    </a:ext>
                  </a:extLst>
                </a:gridCol>
                <a:gridCol w="1078832">
                  <a:extLst>
                    <a:ext uri="{9D8B030D-6E8A-4147-A177-3AD203B41FA5}">
                      <a16:colId xmlns:a16="http://schemas.microsoft.com/office/drawing/2014/main" val="3952547800"/>
                    </a:ext>
                  </a:extLst>
                </a:gridCol>
                <a:gridCol w="1078832">
                  <a:extLst>
                    <a:ext uri="{9D8B030D-6E8A-4147-A177-3AD203B41FA5}">
                      <a16:colId xmlns:a16="http://schemas.microsoft.com/office/drawing/2014/main" val="888529748"/>
                    </a:ext>
                  </a:extLst>
                </a:gridCol>
                <a:gridCol w="1078832">
                  <a:extLst>
                    <a:ext uri="{9D8B030D-6E8A-4147-A177-3AD203B41FA5}">
                      <a16:colId xmlns:a16="http://schemas.microsoft.com/office/drawing/2014/main" val="435765938"/>
                    </a:ext>
                  </a:extLst>
                </a:gridCol>
                <a:gridCol w="1078832">
                  <a:extLst>
                    <a:ext uri="{9D8B030D-6E8A-4147-A177-3AD203B41FA5}">
                      <a16:colId xmlns:a16="http://schemas.microsoft.com/office/drawing/2014/main" val="80764354"/>
                    </a:ext>
                  </a:extLst>
                </a:gridCol>
                <a:gridCol w="1078832">
                  <a:extLst>
                    <a:ext uri="{9D8B030D-6E8A-4147-A177-3AD203B41FA5}">
                      <a16:colId xmlns:a16="http://schemas.microsoft.com/office/drawing/2014/main" val="1908663488"/>
                    </a:ext>
                  </a:extLst>
                </a:gridCol>
                <a:gridCol w="1078832">
                  <a:extLst>
                    <a:ext uri="{9D8B030D-6E8A-4147-A177-3AD203B41FA5}">
                      <a16:colId xmlns:a16="http://schemas.microsoft.com/office/drawing/2014/main" val="3942288984"/>
                    </a:ext>
                  </a:extLst>
                </a:gridCol>
              </a:tblGrid>
              <a:tr h="296177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case 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case objective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Pre-requisite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Steps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Input data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Expected output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Actual output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Status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414532"/>
                  </a:ext>
                </a:extLst>
              </a:tr>
              <a:tr h="888530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Tc_11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group creation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 should be logged in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Open groups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Create group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3. Add members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Group name, members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Group should be created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Group created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1793011"/>
                  </a:ext>
                </a:extLst>
              </a:tr>
              <a:tr h="888530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Tc_12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group message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Group should exist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Open group 2. Type message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3. Send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"hello group"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All members should receive message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Message received by members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1819685"/>
                  </a:ext>
                </a:extLst>
              </a:tr>
              <a:tr h="888530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Tc_13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add member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Group admin required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Open group info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Select add member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3. Select user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Registered user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 should be added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Member added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5757470"/>
                  </a:ext>
                </a:extLst>
              </a:tr>
              <a:tr h="888530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Tc_14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remove member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Group admin required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Open members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Select user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3. Remove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Group member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Member should be removed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Member removed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1750303"/>
                  </a:ext>
                </a:extLst>
              </a:tr>
              <a:tr h="592353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Tc_15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group information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Group should exist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Open group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Click group header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Existing group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Group details should display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Group details displayed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 dirty="0">
                          <a:effectLst/>
                        </a:rPr>
                        <a:t>Pass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60134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924835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3DCC5-AB5E-85B8-E550-FB2D3CD71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C07C1683-3421-A7A0-C1C7-F4FE68574510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SYSTEM TESTING</a:t>
            </a:r>
            <a:endParaRPr lang="en-IN" altLang="en-US" sz="32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B9B9BA-C152-1C5C-3E95-9F4436EC4763}"/>
              </a:ext>
            </a:extLst>
          </p:cNvPr>
          <p:cNvSpPr txBox="1"/>
          <p:nvPr/>
        </p:nvSpPr>
        <p:spPr>
          <a:xfrm>
            <a:off x="2535594" y="17400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User Search &amp; Connection Testing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8D087A-D46B-A394-64E3-538613BFA9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005673"/>
              </p:ext>
            </p:extLst>
          </p:nvPr>
        </p:nvGraphicFramePr>
        <p:xfrm>
          <a:off x="1133864" y="2362550"/>
          <a:ext cx="9531024" cy="42687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1378">
                  <a:extLst>
                    <a:ext uri="{9D8B030D-6E8A-4147-A177-3AD203B41FA5}">
                      <a16:colId xmlns:a16="http://schemas.microsoft.com/office/drawing/2014/main" val="580194317"/>
                    </a:ext>
                  </a:extLst>
                </a:gridCol>
                <a:gridCol w="1191378">
                  <a:extLst>
                    <a:ext uri="{9D8B030D-6E8A-4147-A177-3AD203B41FA5}">
                      <a16:colId xmlns:a16="http://schemas.microsoft.com/office/drawing/2014/main" val="2423325600"/>
                    </a:ext>
                  </a:extLst>
                </a:gridCol>
                <a:gridCol w="1191378">
                  <a:extLst>
                    <a:ext uri="{9D8B030D-6E8A-4147-A177-3AD203B41FA5}">
                      <a16:colId xmlns:a16="http://schemas.microsoft.com/office/drawing/2014/main" val="1614748904"/>
                    </a:ext>
                  </a:extLst>
                </a:gridCol>
                <a:gridCol w="1191378">
                  <a:extLst>
                    <a:ext uri="{9D8B030D-6E8A-4147-A177-3AD203B41FA5}">
                      <a16:colId xmlns:a16="http://schemas.microsoft.com/office/drawing/2014/main" val="3050457389"/>
                    </a:ext>
                  </a:extLst>
                </a:gridCol>
                <a:gridCol w="1191378">
                  <a:extLst>
                    <a:ext uri="{9D8B030D-6E8A-4147-A177-3AD203B41FA5}">
                      <a16:colId xmlns:a16="http://schemas.microsoft.com/office/drawing/2014/main" val="3747453987"/>
                    </a:ext>
                  </a:extLst>
                </a:gridCol>
                <a:gridCol w="1191378">
                  <a:extLst>
                    <a:ext uri="{9D8B030D-6E8A-4147-A177-3AD203B41FA5}">
                      <a16:colId xmlns:a16="http://schemas.microsoft.com/office/drawing/2014/main" val="4019355014"/>
                    </a:ext>
                  </a:extLst>
                </a:gridCol>
                <a:gridCol w="1191378">
                  <a:extLst>
                    <a:ext uri="{9D8B030D-6E8A-4147-A177-3AD203B41FA5}">
                      <a16:colId xmlns:a16="http://schemas.microsoft.com/office/drawing/2014/main" val="2850377015"/>
                    </a:ext>
                  </a:extLst>
                </a:gridCol>
                <a:gridCol w="1191378">
                  <a:extLst>
                    <a:ext uri="{9D8B030D-6E8A-4147-A177-3AD203B41FA5}">
                      <a16:colId xmlns:a16="http://schemas.microsoft.com/office/drawing/2014/main" val="1550927202"/>
                    </a:ext>
                  </a:extLst>
                </a:gridCol>
              </a:tblGrid>
              <a:tr h="355730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case 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case objective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Pre-requisite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Steps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Input data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Expected output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Actual output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Status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0651729"/>
                  </a:ext>
                </a:extLst>
              </a:tr>
              <a:tr h="711459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Tc_16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user search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 should be logged in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Open search 2. Enter username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Username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Matching users should display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Users displayed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1237070"/>
                  </a:ext>
                </a:extLst>
              </a:tr>
              <a:tr h="1067189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Tc_17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invalid search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Search page should be open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Enter unknown username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Search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Invalid username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No user/result message should appear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No result displayed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6726147"/>
                  </a:ext>
                </a:extLst>
              </a:tr>
              <a:tr h="711459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Tc_18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user profile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 should appear in search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Search user 2. Click profile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Registered user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 profile should open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Profile opened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9703980"/>
                  </a:ext>
                </a:extLst>
              </a:tr>
              <a:tr h="711459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Tc_19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connection request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Another user should exist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Search user 2. Click add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Selected user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Request should be sent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Request sent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4967745"/>
                  </a:ext>
                </a:extLst>
              </a:tr>
              <a:tr h="711459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Tc_20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accept request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Request should exist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Open notification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Accept request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Pending request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Users should be connected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Connection created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 dirty="0">
                          <a:effectLst/>
                        </a:rPr>
                        <a:t>Pass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28312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025554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009AC-5413-53A2-8C4B-95D69AD46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E7CE6DA1-EF41-E711-5DD3-7AF337D25D95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SYSTEM TESTING</a:t>
            </a:r>
            <a:endParaRPr lang="en-IN" altLang="en-US" sz="32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558065-132A-A522-25F5-5F76EDFA9E4E}"/>
              </a:ext>
            </a:extLst>
          </p:cNvPr>
          <p:cNvSpPr txBox="1"/>
          <p:nvPr/>
        </p:nvSpPr>
        <p:spPr>
          <a:xfrm>
            <a:off x="2535594" y="17400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User Profile Testing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6343B5-CB58-CC73-A428-92C209B3A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097398"/>
              </p:ext>
            </p:extLst>
          </p:nvPr>
        </p:nvGraphicFramePr>
        <p:xfrm>
          <a:off x="1721694" y="2381607"/>
          <a:ext cx="8383360" cy="37859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47920">
                  <a:extLst>
                    <a:ext uri="{9D8B030D-6E8A-4147-A177-3AD203B41FA5}">
                      <a16:colId xmlns:a16="http://schemas.microsoft.com/office/drawing/2014/main" val="1338866127"/>
                    </a:ext>
                  </a:extLst>
                </a:gridCol>
                <a:gridCol w="1047920">
                  <a:extLst>
                    <a:ext uri="{9D8B030D-6E8A-4147-A177-3AD203B41FA5}">
                      <a16:colId xmlns:a16="http://schemas.microsoft.com/office/drawing/2014/main" val="1815727054"/>
                    </a:ext>
                  </a:extLst>
                </a:gridCol>
                <a:gridCol w="1047920">
                  <a:extLst>
                    <a:ext uri="{9D8B030D-6E8A-4147-A177-3AD203B41FA5}">
                      <a16:colId xmlns:a16="http://schemas.microsoft.com/office/drawing/2014/main" val="2664730410"/>
                    </a:ext>
                  </a:extLst>
                </a:gridCol>
                <a:gridCol w="1047920">
                  <a:extLst>
                    <a:ext uri="{9D8B030D-6E8A-4147-A177-3AD203B41FA5}">
                      <a16:colId xmlns:a16="http://schemas.microsoft.com/office/drawing/2014/main" val="2719801404"/>
                    </a:ext>
                  </a:extLst>
                </a:gridCol>
                <a:gridCol w="1047920">
                  <a:extLst>
                    <a:ext uri="{9D8B030D-6E8A-4147-A177-3AD203B41FA5}">
                      <a16:colId xmlns:a16="http://schemas.microsoft.com/office/drawing/2014/main" val="3814447040"/>
                    </a:ext>
                  </a:extLst>
                </a:gridCol>
                <a:gridCol w="1047920">
                  <a:extLst>
                    <a:ext uri="{9D8B030D-6E8A-4147-A177-3AD203B41FA5}">
                      <a16:colId xmlns:a16="http://schemas.microsoft.com/office/drawing/2014/main" val="2082545163"/>
                    </a:ext>
                  </a:extLst>
                </a:gridCol>
                <a:gridCol w="1047920">
                  <a:extLst>
                    <a:ext uri="{9D8B030D-6E8A-4147-A177-3AD203B41FA5}">
                      <a16:colId xmlns:a16="http://schemas.microsoft.com/office/drawing/2014/main" val="2672139823"/>
                    </a:ext>
                  </a:extLst>
                </a:gridCol>
                <a:gridCol w="1047920">
                  <a:extLst>
                    <a:ext uri="{9D8B030D-6E8A-4147-A177-3AD203B41FA5}">
                      <a16:colId xmlns:a16="http://schemas.microsoft.com/office/drawing/2014/main" val="2320830938"/>
                    </a:ext>
                  </a:extLst>
                </a:gridCol>
              </a:tblGrid>
              <a:tr h="344175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case 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case objective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Pre-requisite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Steps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Input data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Expected output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Actual output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Status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0318430"/>
                  </a:ext>
                </a:extLst>
              </a:tr>
              <a:tr h="688351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Tc_21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view profile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 should be logged in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Open profile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 account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Profile information should display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Profile displayed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5860970"/>
                  </a:ext>
                </a:extLst>
              </a:tr>
              <a:tr h="1032526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Tc_22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edit profile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Profile should exist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Click edit 2. Change details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3. Save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Name, about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Profile should update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Profile updated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6282165"/>
                  </a:ext>
                </a:extLst>
              </a:tr>
              <a:tr h="1032526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Tc_23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profile picture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 should be logged in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Edit profile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Select image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3. Save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Image file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Profile picture should update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Picture updated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5241802"/>
                  </a:ext>
                </a:extLst>
              </a:tr>
              <a:tr h="688351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Tc_24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other user profile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Another user should exist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Search user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Open profile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Selected user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Other user's profile should display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Profile displayed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 dirty="0">
                          <a:effectLst/>
                        </a:rPr>
                        <a:t>Pass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6171232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968788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D30C5-1853-4D7D-1B2B-9612482C7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171DB5DD-C547-FE34-B114-F531F48C0EE8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SYSTEM TESTING</a:t>
            </a:r>
            <a:endParaRPr lang="en-IN" altLang="en-US" sz="32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2A7B9F-922B-1937-A88C-63410A2FADF0}"/>
              </a:ext>
            </a:extLst>
          </p:cNvPr>
          <p:cNvSpPr txBox="1"/>
          <p:nvPr/>
        </p:nvSpPr>
        <p:spPr>
          <a:xfrm>
            <a:off x="2535594" y="17400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Status Testing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9C3453-4425-889F-0026-EF48E63A3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95705"/>
              </p:ext>
            </p:extLst>
          </p:nvPr>
        </p:nvGraphicFramePr>
        <p:xfrm>
          <a:off x="1861652" y="2410380"/>
          <a:ext cx="8327376" cy="40917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40922">
                  <a:extLst>
                    <a:ext uri="{9D8B030D-6E8A-4147-A177-3AD203B41FA5}">
                      <a16:colId xmlns:a16="http://schemas.microsoft.com/office/drawing/2014/main" val="2582888185"/>
                    </a:ext>
                  </a:extLst>
                </a:gridCol>
                <a:gridCol w="1040922">
                  <a:extLst>
                    <a:ext uri="{9D8B030D-6E8A-4147-A177-3AD203B41FA5}">
                      <a16:colId xmlns:a16="http://schemas.microsoft.com/office/drawing/2014/main" val="1281389425"/>
                    </a:ext>
                  </a:extLst>
                </a:gridCol>
                <a:gridCol w="1040922">
                  <a:extLst>
                    <a:ext uri="{9D8B030D-6E8A-4147-A177-3AD203B41FA5}">
                      <a16:colId xmlns:a16="http://schemas.microsoft.com/office/drawing/2014/main" val="2327227152"/>
                    </a:ext>
                  </a:extLst>
                </a:gridCol>
                <a:gridCol w="1040922">
                  <a:extLst>
                    <a:ext uri="{9D8B030D-6E8A-4147-A177-3AD203B41FA5}">
                      <a16:colId xmlns:a16="http://schemas.microsoft.com/office/drawing/2014/main" val="395770316"/>
                    </a:ext>
                  </a:extLst>
                </a:gridCol>
                <a:gridCol w="1040922">
                  <a:extLst>
                    <a:ext uri="{9D8B030D-6E8A-4147-A177-3AD203B41FA5}">
                      <a16:colId xmlns:a16="http://schemas.microsoft.com/office/drawing/2014/main" val="2980165944"/>
                    </a:ext>
                  </a:extLst>
                </a:gridCol>
                <a:gridCol w="1040922">
                  <a:extLst>
                    <a:ext uri="{9D8B030D-6E8A-4147-A177-3AD203B41FA5}">
                      <a16:colId xmlns:a16="http://schemas.microsoft.com/office/drawing/2014/main" val="983337119"/>
                    </a:ext>
                  </a:extLst>
                </a:gridCol>
                <a:gridCol w="1040922">
                  <a:extLst>
                    <a:ext uri="{9D8B030D-6E8A-4147-A177-3AD203B41FA5}">
                      <a16:colId xmlns:a16="http://schemas.microsoft.com/office/drawing/2014/main" val="3588037705"/>
                    </a:ext>
                  </a:extLst>
                </a:gridCol>
                <a:gridCol w="1040922">
                  <a:extLst>
                    <a:ext uri="{9D8B030D-6E8A-4147-A177-3AD203B41FA5}">
                      <a16:colId xmlns:a16="http://schemas.microsoft.com/office/drawing/2014/main" val="3498095797"/>
                    </a:ext>
                  </a:extLst>
                </a:gridCol>
              </a:tblGrid>
              <a:tr h="291306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case 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case objective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Pre-requisite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Steps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Input data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Expected output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Actual output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Status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4847343"/>
                  </a:ext>
                </a:extLst>
              </a:tr>
              <a:tr h="873919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Tc_25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text status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 should be logged in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Open status 2. Add text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 3. Upload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"good morning"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Text status should upload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Status uploaded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5846219"/>
                  </a:ext>
                </a:extLst>
              </a:tr>
              <a:tr h="582612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Tc_26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image status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Status page should be accessible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Select image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Upload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Image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Image status should upload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Image uploaded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691239"/>
                  </a:ext>
                </a:extLst>
              </a:tr>
              <a:tr h="873919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Tc_27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status visibility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Users should be connected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User a uploads status 2. User b opens status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 a's status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Connected user should see status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Status displayed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91070326"/>
                  </a:ext>
                </a:extLst>
              </a:tr>
              <a:tr h="873919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Tc_28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status privacy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Users should not be connected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Upload status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Check from non-follower account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Status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Non-follower should not see status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Status not displayed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4460311"/>
                  </a:ext>
                </a:extLst>
              </a:tr>
              <a:tr h="582612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Tc_29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delete status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Status should exist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Open own status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Click delete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Existing status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Status should be deleted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Status deleted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 dirty="0">
                          <a:effectLst/>
                        </a:rPr>
                        <a:t>Pass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790763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14145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BFCFD-8754-861B-7BB6-ECCEACA4E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6AFDF7F0-81EB-E7D4-C7CB-D902209F439D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SYSTEM TESTING</a:t>
            </a:r>
            <a:endParaRPr lang="en-IN" altLang="en-US" sz="32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5483A9-4823-8D88-FA12-3C1AAB893986}"/>
              </a:ext>
            </a:extLst>
          </p:cNvPr>
          <p:cNvSpPr txBox="1"/>
          <p:nvPr/>
        </p:nvSpPr>
        <p:spPr>
          <a:xfrm>
            <a:off x="2535594" y="17400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Media &amp; File Sharing Testing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DA6E2A-605F-B18B-EBFA-726CDCFB7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103080"/>
              </p:ext>
            </p:extLst>
          </p:nvPr>
        </p:nvGraphicFramePr>
        <p:xfrm>
          <a:off x="1721522" y="2420483"/>
          <a:ext cx="8084784" cy="38496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0598">
                  <a:extLst>
                    <a:ext uri="{9D8B030D-6E8A-4147-A177-3AD203B41FA5}">
                      <a16:colId xmlns:a16="http://schemas.microsoft.com/office/drawing/2014/main" val="2357287821"/>
                    </a:ext>
                  </a:extLst>
                </a:gridCol>
                <a:gridCol w="1010598">
                  <a:extLst>
                    <a:ext uri="{9D8B030D-6E8A-4147-A177-3AD203B41FA5}">
                      <a16:colId xmlns:a16="http://schemas.microsoft.com/office/drawing/2014/main" val="3643602094"/>
                    </a:ext>
                  </a:extLst>
                </a:gridCol>
                <a:gridCol w="1010598">
                  <a:extLst>
                    <a:ext uri="{9D8B030D-6E8A-4147-A177-3AD203B41FA5}">
                      <a16:colId xmlns:a16="http://schemas.microsoft.com/office/drawing/2014/main" val="1940949540"/>
                    </a:ext>
                  </a:extLst>
                </a:gridCol>
                <a:gridCol w="1010598">
                  <a:extLst>
                    <a:ext uri="{9D8B030D-6E8A-4147-A177-3AD203B41FA5}">
                      <a16:colId xmlns:a16="http://schemas.microsoft.com/office/drawing/2014/main" val="408881665"/>
                    </a:ext>
                  </a:extLst>
                </a:gridCol>
                <a:gridCol w="1010598">
                  <a:extLst>
                    <a:ext uri="{9D8B030D-6E8A-4147-A177-3AD203B41FA5}">
                      <a16:colId xmlns:a16="http://schemas.microsoft.com/office/drawing/2014/main" val="2650518943"/>
                    </a:ext>
                  </a:extLst>
                </a:gridCol>
                <a:gridCol w="1010598">
                  <a:extLst>
                    <a:ext uri="{9D8B030D-6E8A-4147-A177-3AD203B41FA5}">
                      <a16:colId xmlns:a16="http://schemas.microsoft.com/office/drawing/2014/main" val="745145128"/>
                    </a:ext>
                  </a:extLst>
                </a:gridCol>
                <a:gridCol w="1010598">
                  <a:extLst>
                    <a:ext uri="{9D8B030D-6E8A-4147-A177-3AD203B41FA5}">
                      <a16:colId xmlns:a16="http://schemas.microsoft.com/office/drawing/2014/main" val="3987154052"/>
                    </a:ext>
                  </a:extLst>
                </a:gridCol>
                <a:gridCol w="1010598">
                  <a:extLst>
                    <a:ext uri="{9D8B030D-6E8A-4147-A177-3AD203B41FA5}">
                      <a16:colId xmlns:a16="http://schemas.microsoft.com/office/drawing/2014/main" val="201853161"/>
                    </a:ext>
                  </a:extLst>
                </a:gridCol>
              </a:tblGrid>
              <a:tr h="384969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case 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case objective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Pre-requisite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Steps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Input data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Expected output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Actual output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Status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4902570"/>
                  </a:ext>
                </a:extLst>
              </a:tr>
              <a:tr h="1154906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Tc_30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image sharing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Chat should be open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Click attachment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Select image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3. Send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Image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Image should be shared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Image shared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2355522"/>
                  </a:ext>
                </a:extLst>
              </a:tr>
              <a:tr h="769937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Tc_31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document sharing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Chat should be open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Select document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Send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Pdf/document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File should be shared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File shared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5252202"/>
                  </a:ext>
                </a:extLst>
              </a:tr>
              <a:tr h="769937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Tc_32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shared media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Shared media should exist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Open chat info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Open media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Shared files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Shared media should display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Media displayed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9737321"/>
                  </a:ext>
                </a:extLst>
              </a:tr>
              <a:tr h="769937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Tc_33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file download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Shared file should exist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Select file 2. Click download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Shared file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File should download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File downloaded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 dirty="0">
                          <a:effectLst/>
                        </a:rPr>
                        <a:t>Pass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806411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5541334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5D118-0585-A992-BD43-66B732E40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ADCB2C39-34C0-BF03-E448-6BEC005221EF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SYSTEM TESTING</a:t>
            </a:r>
            <a:endParaRPr lang="en-IN" altLang="en-US" sz="32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5C00AC-CBBF-A515-799C-8188B97AA15A}"/>
              </a:ext>
            </a:extLst>
          </p:cNvPr>
          <p:cNvSpPr txBox="1"/>
          <p:nvPr/>
        </p:nvSpPr>
        <p:spPr>
          <a:xfrm>
            <a:off x="2535594" y="17400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Notification Testing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0CD2A4-54FA-4867-3D2E-1F30A4016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831077"/>
              </p:ext>
            </p:extLst>
          </p:nvPr>
        </p:nvGraphicFramePr>
        <p:xfrm>
          <a:off x="1814999" y="2560418"/>
          <a:ext cx="8066120" cy="34705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08265">
                  <a:extLst>
                    <a:ext uri="{9D8B030D-6E8A-4147-A177-3AD203B41FA5}">
                      <a16:colId xmlns:a16="http://schemas.microsoft.com/office/drawing/2014/main" val="2089183142"/>
                    </a:ext>
                  </a:extLst>
                </a:gridCol>
                <a:gridCol w="1008265">
                  <a:extLst>
                    <a:ext uri="{9D8B030D-6E8A-4147-A177-3AD203B41FA5}">
                      <a16:colId xmlns:a16="http://schemas.microsoft.com/office/drawing/2014/main" val="3928395564"/>
                    </a:ext>
                  </a:extLst>
                </a:gridCol>
                <a:gridCol w="1008265">
                  <a:extLst>
                    <a:ext uri="{9D8B030D-6E8A-4147-A177-3AD203B41FA5}">
                      <a16:colId xmlns:a16="http://schemas.microsoft.com/office/drawing/2014/main" val="2388945600"/>
                    </a:ext>
                  </a:extLst>
                </a:gridCol>
                <a:gridCol w="1008265">
                  <a:extLst>
                    <a:ext uri="{9D8B030D-6E8A-4147-A177-3AD203B41FA5}">
                      <a16:colId xmlns:a16="http://schemas.microsoft.com/office/drawing/2014/main" val="106787093"/>
                    </a:ext>
                  </a:extLst>
                </a:gridCol>
                <a:gridCol w="1008265">
                  <a:extLst>
                    <a:ext uri="{9D8B030D-6E8A-4147-A177-3AD203B41FA5}">
                      <a16:colId xmlns:a16="http://schemas.microsoft.com/office/drawing/2014/main" val="3222112949"/>
                    </a:ext>
                  </a:extLst>
                </a:gridCol>
                <a:gridCol w="1008265">
                  <a:extLst>
                    <a:ext uri="{9D8B030D-6E8A-4147-A177-3AD203B41FA5}">
                      <a16:colId xmlns:a16="http://schemas.microsoft.com/office/drawing/2014/main" val="3464260490"/>
                    </a:ext>
                  </a:extLst>
                </a:gridCol>
                <a:gridCol w="1008265">
                  <a:extLst>
                    <a:ext uri="{9D8B030D-6E8A-4147-A177-3AD203B41FA5}">
                      <a16:colId xmlns:a16="http://schemas.microsoft.com/office/drawing/2014/main" val="4165444706"/>
                    </a:ext>
                  </a:extLst>
                </a:gridCol>
                <a:gridCol w="1008265">
                  <a:extLst>
                    <a:ext uri="{9D8B030D-6E8A-4147-A177-3AD203B41FA5}">
                      <a16:colId xmlns:a16="http://schemas.microsoft.com/office/drawing/2014/main" val="1378560729"/>
                    </a:ext>
                  </a:extLst>
                </a:gridCol>
              </a:tblGrid>
              <a:tr h="385621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case 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case objective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Pre-requisite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Steps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Input data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Expected output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Actual output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Status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3934545"/>
                  </a:ext>
                </a:extLst>
              </a:tr>
              <a:tr h="1156864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Tc_34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message notification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Two users should exist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User a sends message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Check user b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New message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Notification should appear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Notification displayed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2751722"/>
                  </a:ext>
                </a:extLst>
              </a:tr>
              <a:tr h="1156864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Tc_35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request notification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Users should not be connected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User a sends request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Check user b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Connection request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Request notification should appear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Notification displayed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461659"/>
                  </a:ext>
                </a:extLst>
              </a:tr>
              <a:tr h="771243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Tc_36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group notification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 should be group member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Send group activity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Check member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Group activity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Group notification should appear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Notification displayed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 dirty="0">
                          <a:effectLst/>
                        </a:rPr>
                        <a:t>Pass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728274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323420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F6B76-78DB-EF2C-B28D-0E61DFB09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47B0304A-71CB-A987-B3DB-C4C20E99F0E8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SYSTEM TESTING</a:t>
            </a:r>
            <a:endParaRPr lang="en-IN" altLang="en-US" sz="32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CDB223-6292-CD53-9ABC-D1E175E4A5B1}"/>
              </a:ext>
            </a:extLst>
          </p:cNvPr>
          <p:cNvSpPr txBox="1"/>
          <p:nvPr/>
        </p:nvSpPr>
        <p:spPr>
          <a:xfrm>
            <a:off x="2535594" y="17400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Settings Testing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DC1CAD-A191-6E51-03A4-10A4248FA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77190"/>
              </p:ext>
            </p:extLst>
          </p:nvPr>
        </p:nvGraphicFramePr>
        <p:xfrm>
          <a:off x="1563073" y="2715180"/>
          <a:ext cx="8541984" cy="34749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67748">
                  <a:extLst>
                    <a:ext uri="{9D8B030D-6E8A-4147-A177-3AD203B41FA5}">
                      <a16:colId xmlns:a16="http://schemas.microsoft.com/office/drawing/2014/main" val="3598277234"/>
                    </a:ext>
                  </a:extLst>
                </a:gridCol>
                <a:gridCol w="1067748">
                  <a:extLst>
                    <a:ext uri="{9D8B030D-6E8A-4147-A177-3AD203B41FA5}">
                      <a16:colId xmlns:a16="http://schemas.microsoft.com/office/drawing/2014/main" val="782895872"/>
                    </a:ext>
                  </a:extLst>
                </a:gridCol>
                <a:gridCol w="1067748">
                  <a:extLst>
                    <a:ext uri="{9D8B030D-6E8A-4147-A177-3AD203B41FA5}">
                      <a16:colId xmlns:a16="http://schemas.microsoft.com/office/drawing/2014/main" val="3131495686"/>
                    </a:ext>
                  </a:extLst>
                </a:gridCol>
                <a:gridCol w="1067748">
                  <a:extLst>
                    <a:ext uri="{9D8B030D-6E8A-4147-A177-3AD203B41FA5}">
                      <a16:colId xmlns:a16="http://schemas.microsoft.com/office/drawing/2014/main" val="2574757455"/>
                    </a:ext>
                  </a:extLst>
                </a:gridCol>
                <a:gridCol w="1067748">
                  <a:extLst>
                    <a:ext uri="{9D8B030D-6E8A-4147-A177-3AD203B41FA5}">
                      <a16:colId xmlns:a16="http://schemas.microsoft.com/office/drawing/2014/main" val="89821368"/>
                    </a:ext>
                  </a:extLst>
                </a:gridCol>
                <a:gridCol w="1067748">
                  <a:extLst>
                    <a:ext uri="{9D8B030D-6E8A-4147-A177-3AD203B41FA5}">
                      <a16:colId xmlns:a16="http://schemas.microsoft.com/office/drawing/2014/main" val="3864751617"/>
                    </a:ext>
                  </a:extLst>
                </a:gridCol>
                <a:gridCol w="1067748">
                  <a:extLst>
                    <a:ext uri="{9D8B030D-6E8A-4147-A177-3AD203B41FA5}">
                      <a16:colId xmlns:a16="http://schemas.microsoft.com/office/drawing/2014/main" val="3734115331"/>
                    </a:ext>
                  </a:extLst>
                </a:gridCol>
                <a:gridCol w="1067748">
                  <a:extLst>
                    <a:ext uri="{9D8B030D-6E8A-4147-A177-3AD203B41FA5}">
                      <a16:colId xmlns:a16="http://schemas.microsoft.com/office/drawing/2014/main" val="1675052599"/>
                    </a:ext>
                  </a:extLst>
                </a:gridCol>
              </a:tblGrid>
              <a:tr h="386101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case id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case objective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Pre-requisite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Steps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Input data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Expected output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Actual output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Status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8182475"/>
                  </a:ext>
                </a:extLst>
              </a:tr>
              <a:tr h="1158302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Tc_37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change password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 should be logged in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Open settings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Change password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3. Save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Old and new password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Password should update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Password updated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1032910"/>
                  </a:ext>
                </a:extLst>
              </a:tr>
              <a:tr h="772202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Tc_38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theme settings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Settings should be accessible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Open theme 2. Select theme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Dark/light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Theme should change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Theme changed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Pass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8147694"/>
                  </a:ext>
                </a:extLst>
              </a:tr>
              <a:tr h="1158302"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Tc_39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Test privacy settings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User should be logged in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1. Open privacy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2. Change setting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3. Save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Privacy option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Setting should update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>
                          <a:effectLst/>
                        </a:rPr>
                        <a:t>Setting updated successfully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63880" algn="l"/>
                          <a:tab pos="2865755" algn="ctr"/>
                        </a:tabLst>
                      </a:pPr>
                      <a:r>
                        <a:rPr lang="en-IN" sz="1000" dirty="0">
                          <a:effectLst/>
                        </a:rPr>
                        <a:t>Pass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Nimbus Roman No9 L;Times New Ro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735987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218954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D15A3-2D7E-CF38-3D99-334727F4F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B170C3AE-35B9-B164-9C84-2433684A79F4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CONCLUSION</a:t>
            </a:r>
            <a:endParaRPr lang="en-IN" altLang="en-US" sz="32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D481F6-2AFC-35A1-A289-D8DE90B3FA1C}"/>
              </a:ext>
            </a:extLst>
          </p:cNvPr>
          <p:cNvSpPr txBox="1"/>
          <p:nvPr/>
        </p:nvSpPr>
        <p:spPr>
          <a:xfrm>
            <a:off x="2199692" y="2449196"/>
            <a:ext cx="718690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FRANXX provides a real-time communication platform.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Users can search and connect with other users.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Supports private and group chats.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Supports media and file sharing.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Provides status updates and profile management.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React.js, Node.js, Express.js, MongoDB and Socket.IO were used.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Most planned modules were successfully implemented and tested.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The system can be enhanced with additional communication and security features.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80289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D58DB-2186-D4EB-83B8-C887A5978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C58AED15-7485-7B6E-9FBF-8DFE4587848E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LEARNING DURING PROJECT WORK</a:t>
            </a:r>
            <a:endParaRPr lang="en-IN" altLang="en-US" sz="32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1E32CD-B18B-5119-BDE3-00A7474A8144}"/>
              </a:ext>
            </a:extLst>
          </p:cNvPr>
          <p:cNvSpPr txBox="1"/>
          <p:nvPr/>
        </p:nvSpPr>
        <p:spPr>
          <a:xfrm>
            <a:off x="2199692" y="2449196"/>
            <a:ext cx="718690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React.js and component-based development.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Node.js and Express.js.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MongoDB database management.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REST API development and integration.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JWT authentication.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Route protection.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Socket.IO and real-time communication.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Git and GitHub.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Debugging and problem solving.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75358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B6A0A-214E-3D7B-080A-A0D06F516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CBF31E08-FC0D-0A28-F82F-B4E7E40F1C1A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IN" sz="3200" b="0" dirty="0">
                <a:latin typeface="Comic Sans MS" panose="030F0702030302020204" pitchFamily="66" charset="0"/>
              </a:rPr>
              <a:t>Future Enhancement</a:t>
            </a:r>
            <a:endParaRPr lang="en-IN" altLang="en-US" sz="32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462751-B583-56B9-09A4-E9A5190337F3}"/>
              </a:ext>
            </a:extLst>
          </p:cNvPr>
          <p:cNvSpPr txBox="1"/>
          <p:nvPr/>
        </p:nvSpPr>
        <p:spPr>
          <a:xfrm>
            <a:off x="2199692" y="2449196"/>
            <a:ext cx="718690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Voice Calling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Video Calling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Message Reactions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Reply and Forward Messages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Message Editing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Advanced Privacy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Push Notifications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End-to-End Encryption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Voice Messages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Android and iOS Mobile Application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Cloud Storage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Advanced Admin Monitoring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80020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817E8-87AA-2323-10A3-C9070A2EB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E4F77357-7D33-F5CF-61F3-650548120939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02230" y="226695"/>
            <a:ext cx="9110980" cy="1062355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Comic Sans MS" panose="030F0702030302020204" pitchFamily="66" charset="0"/>
              </a:rPr>
              <a:t>BIBLIOGRAPHY</a:t>
            </a:r>
            <a:endParaRPr lang="en-IN" altLang="en-US" sz="3200" b="0" dirty="0">
              <a:latin typeface="Comic Sans MS" panose="030F0702030302020204" pitchFamily="66" charset="0"/>
              <a:cs typeface="Comic Sans MS" panose="030F07020303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0D1242-80EE-63D3-F6E7-1EC8246484AC}"/>
              </a:ext>
            </a:extLst>
          </p:cNvPr>
          <p:cNvSpPr txBox="1"/>
          <p:nvPr/>
        </p:nvSpPr>
        <p:spPr>
          <a:xfrm>
            <a:off x="2031741" y="2253254"/>
            <a:ext cx="749481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Offline References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Text Book :</a:t>
            </a:r>
            <a:endParaRPr lang="en-US" i="1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i="1" dirty="0"/>
              <a:t>Software Engineering – A Practitioner’s Approach</a:t>
            </a:r>
            <a:r>
              <a:rPr lang="en-US" dirty="0"/>
              <a:t>, Roger S. Pressman, McGraw Hill, 7th Edition.</a:t>
            </a: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i="1" dirty="0"/>
              <a:t>Unified Modeling Language – User’s Guide, Grady Booch,</a:t>
            </a:r>
            <a:r>
              <a:rPr lang="en-US" dirty="0"/>
              <a:t> James Rumbaugh, Ivar Jacobson, Addison – Wesley , 2nd Edition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Online References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[1] MongoDB Inc., “MongoDB Documentation,” [online]. Available: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https://www.mongodb.com/docs/. [Accessed: July 10, 2026].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[2] React, “React Documentation,” [online]. Available: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https://react.dev/. [Accessed: June 20, 2026].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[3] Node.js, “Node.js Documentation,” [online]. Available: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https://nodejs.org/docs/latest/api/. [Accessed: July 25, 2026].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37956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179C4-FFFA-A246-A578-2A6D150D8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oll: Vertical 3">
            <a:extLst>
              <a:ext uri="{FF2B5EF4-FFF2-40B4-BE49-F238E27FC236}">
                <a16:creationId xmlns:a16="http://schemas.microsoft.com/office/drawing/2014/main" id="{DBDAEEA1-3AA9-1323-D326-1CF88AC2E165}"/>
              </a:ext>
            </a:extLst>
          </p:cNvPr>
          <p:cNvSpPr/>
          <p:nvPr/>
        </p:nvSpPr>
        <p:spPr>
          <a:xfrm>
            <a:off x="517850" y="3429000"/>
            <a:ext cx="3326363" cy="2976465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Comic Sans MS" panose="030F0702030302020204" pitchFamily="66" charset="0"/>
              </a:rPr>
              <a:t>Thank You</a:t>
            </a:r>
            <a:endParaRPr lang="en-IN" sz="4000" dirty="0">
              <a:latin typeface="Comic Sans MS" panose="030F0702030302020204" pitchFamily="66" charset="0"/>
            </a:endParaRPr>
          </a:p>
        </p:txBody>
      </p:sp>
      <p:sp>
        <p:nvSpPr>
          <p:cNvPr id="6" name="署名">
            <a:extLst>
              <a:ext uri="{FF2B5EF4-FFF2-40B4-BE49-F238E27FC236}">
                <a16:creationId xmlns:a16="http://schemas.microsoft.com/office/drawing/2014/main" id="{D59F35CC-762A-03DB-D8D9-3525D2F2B92F}"/>
              </a:ext>
            </a:extLst>
          </p:cNvPr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6874730" y="1714500"/>
            <a:ext cx="4018280" cy="1714500"/>
          </a:xfrm>
        </p:spPr>
        <p:txBody>
          <a:bodyPr>
            <a:normAutofit fontScale="87500"/>
          </a:bodyPr>
          <a:lstStyle/>
          <a:p>
            <a:r>
              <a:rPr lang="en-IN" altLang="en-US" dirty="0">
                <a:latin typeface="Comic Sans MS" panose="030F0702030302020204" charset="0"/>
                <a:cs typeface="Comic Sans MS" panose="030F0702030302020204" charset="0"/>
              </a:rPr>
              <a:t>Prepared By :-</a:t>
            </a:r>
          </a:p>
          <a:p>
            <a:r>
              <a:rPr lang="en-IN" altLang="en-US" dirty="0">
                <a:latin typeface="Comic Sans MS" panose="030F0702030302020204" charset="0"/>
                <a:cs typeface="Comic Sans MS" panose="030F0702030302020204" charset="0"/>
              </a:rPr>
              <a:t>Savan Detroja - 92500584067</a:t>
            </a:r>
          </a:p>
          <a:p>
            <a:r>
              <a:rPr lang="en-IN" altLang="en-US" dirty="0">
                <a:latin typeface="Comic Sans MS" panose="030F0702030302020204" charset="0"/>
                <a:cs typeface="Comic Sans MS" panose="030F0702030302020204" charset="0"/>
              </a:rPr>
              <a:t>Aryan </a:t>
            </a:r>
            <a:r>
              <a:rPr lang="en-IN" altLang="en-US" dirty="0" err="1">
                <a:latin typeface="Comic Sans MS" panose="030F0702030302020204" charset="0"/>
                <a:cs typeface="Comic Sans MS" panose="030F0702030302020204" charset="0"/>
              </a:rPr>
              <a:t>Kapadiya</a:t>
            </a:r>
            <a:r>
              <a:rPr lang="en-IN" altLang="en-US" dirty="0">
                <a:latin typeface="Comic Sans MS" panose="030F0702030302020204" charset="0"/>
                <a:cs typeface="Comic Sans MS" panose="030F0702030302020204" charset="0"/>
              </a:rPr>
              <a:t> - 92500584093</a:t>
            </a:r>
          </a:p>
          <a:p>
            <a:r>
              <a:rPr lang="en-IN" altLang="en-US" dirty="0">
                <a:latin typeface="Comic Sans MS" panose="030F0702030302020204" charset="0"/>
                <a:cs typeface="Comic Sans MS" panose="030F0702030302020204" charset="0"/>
              </a:rPr>
              <a:t>Jevin Parmar - 92500584073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79527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Name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77_1*f*4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Name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77_1*f*4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Name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77_1*f*4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Name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77_1*f*4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Name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77_1*f*4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Name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77_1*f*4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Name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77_1*f*4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1_Office Theme">
  <a:themeElements>
    <a:clrScheme name="自定义 89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C000"/>
      </a:accent1>
      <a:accent2>
        <a:srgbClr val="FF7A00"/>
      </a:accent2>
      <a:accent3>
        <a:srgbClr val="FF9900"/>
      </a:accent3>
      <a:accent4>
        <a:srgbClr val="75BD42"/>
      </a:accent4>
      <a:accent5>
        <a:srgbClr val="30C0B4"/>
      </a:accent5>
      <a:accent6>
        <a:srgbClr val="E54C5E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3110</Words>
  <Application>Microsoft Office PowerPoint</Application>
  <PresentationFormat>Widescreen</PresentationFormat>
  <Paragraphs>947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7" baseType="lpstr">
      <vt:lpstr>Arial</vt:lpstr>
      <vt:lpstr>Calibri</vt:lpstr>
      <vt:lpstr>Comic Sans MS</vt:lpstr>
      <vt:lpstr>Lato</vt:lpstr>
      <vt:lpstr>Manrope ExtraBold</vt:lpstr>
      <vt:lpstr>Nimbus Roman No9 L</vt:lpstr>
      <vt:lpstr>Times New Roman</vt:lpstr>
      <vt:lpstr>Wingdings</vt:lpstr>
      <vt:lpstr>1_Office Theme</vt:lpstr>
      <vt:lpstr>Franxx Chat Web</vt:lpstr>
      <vt:lpstr>Intoduction to Ptoject </vt:lpstr>
      <vt:lpstr>Preamble</vt:lpstr>
      <vt:lpstr>Module </vt:lpstr>
      <vt:lpstr>Review of literature</vt:lpstr>
      <vt:lpstr>TECHNICAL DESCRIPTION</vt:lpstr>
      <vt:lpstr>System Design and Development</vt:lpstr>
      <vt:lpstr>System Design and Development</vt:lpstr>
      <vt:lpstr>System Design and Development</vt:lpstr>
      <vt:lpstr>System Design and Development</vt:lpstr>
      <vt:lpstr>System Design and Development</vt:lpstr>
      <vt:lpstr>System Design and Development</vt:lpstr>
      <vt:lpstr>System Design and Development</vt:lpstr>
      <vt:lpstr>System Design and Development</vt:lpstr>
      <vt:lpstr>System Design and Development</vt:lpstr>
      <vt:lpstr>Database Design </vt:lpstr>
      <vt:lpstr>Database Design </vt:lpstr>
      <vt:lpstr>Database Design </vt:lpstr>
      <vt:lpstr>Database Design </vt:lpstr>
      <vt:lpstr>Database Design </vt:lpstr>
      <vt:lpstr>Database Design </vt:lpstr>
      <vt:lpstr>Screen Design</vt:lpstr>
      <vt:lpstr>Screen Design</vt:lpstr>
      <vt:lpstr>Screen Design</vt:lpstr>
      <vt:lpstr>Screen Design</vt:lpstr>
      <vt:lpstr>Screen Design</vt:lpstr>
      <vt:lpstr>Screen Design</vt:lpstr>
      <vt:lpstr>Screen Design</vt:lpstr>
      <vt:lpstr>Project overview</vt:lpstr>
      <vt:lpstr>Project overview</vt:lpstr>
      <vt:lpstr>Project overview</vt:lpstr>
      <vt:lpstr>Project overview</vt:lpstr>
      <vt:lpstr>Project overview</vt:lpstr>
      <vt:lpstr>Project overview</vt:lpstr>
      <vt:lpstr>SYSTEM TESTING</vt:lpstr>
      <vt:lpstr>SYSTEM TESTING</vt:lpstr>
      <vt:lpstr>SYSTEM TESTING</vt:lpstr>
      <vt:lpstr>SYSTEM TESTING</vt:lpstr>
      <vt:lpstr>SYSTEM TESTING</vt:lpstr>
      <vt:lpstr>SYSTEM TESTING</vt:lpstr>
      <vt:lpstr>SYSTEM TESTING</vt:lpstr>
      <vt:lpstr>SYSTEM TESTING</vt:lpstr>
      <vt:lpstr>SYSTEM TESTING</vt:lpstr>
      <vt:lpstr>CONCLUSION</vt:lpstr>
      <vt:lpstr>LEARNING DURING PROJECT WORK</vt:lpstr>
      <vt:lpstr>Future Enhancement</vt:lpstr>
      <vt:lpstr>BIBLIOGRAPHY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Franxx Chat Web</dc:title>
  <dc:creator>aryan</dc:creator>
  <cp:lastModifiedBy>savan detroja</cp:lastModifiedBy>
  <cp:revision>10</cp:revision>
  <dcterms:created xsi:type="dcterms:W3CDTF">2026-08-26T05:37:21Z</dcterms:created>
  <dcterms:modified xsi:type="dcterms:W3CDTF">2026-08-26T08:34:58Z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F816E4B5638D4552B3AF76027978AE28_11</vt:lpwstr>
  </property>
</Properties>
</file>